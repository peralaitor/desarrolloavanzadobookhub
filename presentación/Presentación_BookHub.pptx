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Montserrat Medium" charset="1" panose="00000600000000000000"/>
      <p:regular r:id="rId23"/>
    </p:embeddedFont>
    <p:embeddedFont>
      <p:font typeface="Montserrat Bold" charset="1" panose="00000800000000000000"/>
      <p:regular r:id="rId24"/>
    </p:embeddedFont>
    <p:embeddedFont>
      <p:font typeface="HK Grotesk Medium" charset="1" panose="00000600000000000000"/>
      <p:regular r:id="rId25"/>
    </p:embeddedFont>
    <p:embeddedFont>
      <p:font typeface="Montserrat" charset="1" panose="00000500000000000000"/>
      <p:regular r:id="rId26"/>
    </p:embeddedFont>
    <p:embeddedFont>
      <p:font typeface="Montserrat Semi-Bold" charset="1" panose="000007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Relationship Id="rId7" Target="../media/image12.png" Type="http://schemas.openxmlformats.org/officeDocument/2006/relationships/image"/><Relationship Id="rId8" Target="../media/image1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9.png" Type="http://schemas.openxmlformats.org/officeDocument/2006/relationships/image"/><Relationship Id="rId5" Target="../media/image17.png" Type="http://schemas.openxmlformats.org/officeDocument/2006/relationships/image"/><Relationship Id="rId6" Target="../media/image1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Relationship Id="rId5" Target="../media/image26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0" t="0" r="-16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06588" y="2981226"/>
            <a:ext cx="134473" cy="4612539"/>
            <a:chOff x="0" y="0"/>
            <a:chExt cx="32097" cy="110094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097" cy="1100948"/>
            </a:xfrm>
            <a:custGeom>
              <a:avLst/>
              <a:gdLst/>
              <a:ahLst/>
              <a:cxnLst/>
              <a:rect r="r" b="b" t="t" l="l"/>
              <a:pathLst>
                <a:path h="1100948" w="32097">
                  <a:moveTo>
                    <a:pt x="0" y="0"/>
                  </a:moveTo>
                  <a:lnTo>
                    <a:pt x="32097" y="0"/>
                  </a:lnTo>
                  <a:lnTo>
                    <a:pt x="32097" y="1100948"/>
                  </a:lnTo>
                  <a:lnTo>
                    <a:pt x="0" y="1100948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32097" cy="11295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588926" y="6800759"/>
            <a:ext cx="12126055" cy="531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5"/>
              </a:lnSpc>
            </a:pPr>
            <a:r>
              <a:rPr lang="en-US" b="true" sz="3089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Desarrollo avanzado de aplicaciones para la web de datos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88926" y="4533809"/>
            <a:ext cx="12503055" cy="233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29"/>
              </a:lnSpc>
            </a:pPr>
            <a:r>
              <a:rPr lang="en-US" sz="15357" b="true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HUB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88926" y="2943339"/>
            <a:ext cx="14955067" cy="1809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00"/>
              </a:lnSpc>
            </a:pPr>
            <a:r>
              <a:rPr lang="en-US" b="true" sz="11833" spc="94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BOOK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390906" y="6134546"/>
            <a:ext cx="9856051" cy="8730429"/>
          </a:xfrm>
          <a:custGeom>
            <a:avLst/>
            <a:gdLst/>
            <a:ahLst/>
            <a:cxnLst/>
            <a:rect r="r" b="b" t="t" l="l"/>
            <a:pathLst>
              <a:path h="8730429" w="9856051">
                <a:moveTo>
                  <a:pt x="0" y="0"/>
                </a:moveTo>
                <a:lnTo>
                  <a:pt x="9856051" y="0"/>
                </a:lnTo>
                <a:lnTo>
                  <a:pt x="9856051" y="8730429"/>
                </a:lnTo>
                <a:lnTo>
                  <a:pt x="0" y="873042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4219488" y="-4493967"/>
            <a:ext cx="8438976" cy="7475193"/>
          </a:xfrm>
          <a:custGeom>
            <a:avLst/>
            <a:gdLst/>
            <a:ahLst/>
            <a:cxnLst/>
            <a:rect r="r" b="b" t="t" l="l"/>
            <a:pathLst>
              <a:path h="7475193" w="8438976">
                <a:moveTo>
                  <a:pt x="0" y="0"/>
                </a:moveTo>
                <a:lnTo>
                  <a:pt x="8438976" y="0"/>
                </a:lnTo>
                <a:lnTo>
                  <a:pt x="8438976" y="7475193"/>
                </a:lnTo>
                <a:lnTo>
                  <a:pt x="0" y="7475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74673" y="8805251"/>
            <a:ext cx="5784752" cy="4555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4"/>
              </a:lnSpc>
            </a:pPr>
            <a:r>
              <a:rPr lang="en-US" b="true" sz="2688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Aitor Peral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6869231"/>
            <a:ext cx="18288000" cy="10254134"/>
          </a:xfrm>
          <a:custGeom>
            <a:avLst/>
            <a:gdLst/>
            <a:ahLst/>
            <a:cxnLst/>
            <a:rect r="r" b="b" t="t" l="l"/>
            <a:pathLst>
              <a:path h="10254134" w="18288000">
                <a:moveTo>
                  <a:pt x="0" y="0"/>
                </a:moveTo>
                <a:lnTo>
                  <a:pt x="18288000" y="0"/>
                </a:lnTo>
                <a:lnTo>
                  <a:pt x="18288000" y="10254134"/>
                </a:lnTo>
                <a:lnTo>
                  <a:pt x="0" y="102541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5006878" y="1471010"/>
            <a:ext cx="8274244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CONTENIDO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820722" y="5691188"/>
            <a:ext cx="287744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Objetivo principal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417964" y="4252912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51229" y="5623278"/>
            <a:ext cx="4585542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50"/>
              </a:lnSpc>
              <a:spcBef>
                <a:spcPct val="0"/>
              </a:spcBef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</a:t>
            </a:r>
            <a:r>
              <a:rPr lang="en-US" b="true" sz="2292" u="none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uncionalidades, APIs y modelo de datos.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299745" y="4185003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109768" y="5623278"/>
            <a:ext cx="502367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Arquitectura de la solución y tecnologías seleccionadas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780127" y="4185003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534856" y="8547834"/>
            <a:ext cx="3651027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50"/>
              </a:lnSpc>
              <a:spcBef>
                <a:spcPct val="0"/>
              </a:spcBef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Lecciones aprendidas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18890" y="7109559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284439" y="8547834"/>
            <a:ext cx="4720877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50"/>
              </a:lnSpc>
              <a:spcBef>
                <a:spcPct val="0"/>
              </a:spcBef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Conclusiones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803397" y="7109559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05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0"/>
            <a:ext cx="4513686" cy="10287000"/>
          </a:xfrm>
          <a:custGeom>
            <a:avLst/>
            <a:gdLst/>
            <a:ahLst/>
            <a:cxnLst/>
            <a:rect r="r" b="b" t="t" l="l"/>
            <a:pathLst>
              <a:path h="10287000" w="4513686">
                <a:moveTo>
                  <a:pt x="0" y="0"/>
                </a:moveTo>
                <a:lnTo>
                  <a:pt x="4513686" y="0"/>
                </a:lnTo>
                <a:lnTo>
                  <a:pt x="451368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1958" t="0" r="-154507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-611408" y="9646093"/>
            <a:ext cx="8321306" cy="1057828"/>
            <a:chOff x="0" y="0"/>
            <a:chExt cx="2191620" cy="27860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1620" cy="278605"/>
            </a:xfrm>
            <a:custGeom>
              <a:avLst/>
              <a:gdLst/>
              <a:ahLst/>
              <a:cxnLst/>
              <a:rect r="r" b="b" t="t" l="l"/>
              <a:pathLst>
                <a:path h="278605" w="2191620">
                  <a:moveTo>
                    <a:pt x="0" y="0"/>
                  </a:moveTo>
                  <a:lnTo>
                    <a:pt x="2191620" y="0"/>
                  </a:lnTo>
                  <a:lnTo>
                    <a:pt x="2191620" y="278605"/>
                  </a:lnTo>
                  <a:lnTo>
                    <a:pt x="0" y="278605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2191620" cy="3071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b="true" sz="2199">
                  <a:solidFill>
                    <a:srgbClr val="5CB6F9"/>
                  </a:solidFill>
                  <a:latin typeface="HK Grotesk Medium"/>
                  <a:ea typeface="HK Grotesk Medium"/>
                  <a:cs typeface="HK Grotesk Medium"/>
                  <a:sym typeface="HK Grotesk Medium"/>
                </a:rPr>
                <a:t>01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681132" y="-528914"/>
            <a:ext cx="8321306" cy="1057828"/>
            <a:chOff x="0" y="0"/>
            <a:chExt cx="2191620" cy="2786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1620" cy="278605"/>
            </a:xfrm>
            <a:custGeom>
              <a:avLst/>
              <a:gdLst/>
              <a:ahLst/>
              <a:cxnLst/>
              <a:rect r="r" b="b" t="t" l="l"/>
              <a:pathLst>
                <a:path h="278605" w="2191620">
                  <a:moveTo>
                    <a:pt x="0" y="0"/>
                  </a:moveTo>
                  <a:lnTo>
                    <a:pt x="2191620" y="0"/>
                  </a:lnTo>
                  <a:lnTo>
                    <a:pt x="2191620" y="278605"/>
                  </a:lnTo>
                  <a:lnTo>
                    <a:pt x="0" y="278605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91620" cy="3071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b="true" sz="2199">
                  <a:solidFill>
                    <a:srgbClr val="5CB6F9"/>
                  </a:solidFill>
                  <a:latin typeface="HK Grotesk Medium"/>
                  <a:ea typeface="HK Grotesk Medium"/>
                  <a:cs typeface="HK Grotesk Medium"/>
                  <a:sym typeface="HK Grotesk Medium"/>
                </a:rPr>
                <a:t>01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5873236" y="2935945"/>
            <a:ext cx="9496402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47"/>
              </a:lnSpc>
              <a:spcBef>
                <a:spcPct val="0"/>
              </a:spcBef>
            </a:pPr>
            <a:r>
              <a:rPr lang="en-US" b="true" sz="5872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 PRINCIPAL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873236" y="3917528"/>
            <a:ext cx="11386064" cy="4182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713"/>
              </a:lnSpc>
            </a:pP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esarrollar una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plataforma web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gestión bibliográfica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que demuestre el dominio de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arquitecturas de microservicios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modernas, integrando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múltiples tecnologías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(Python, Node.js, MySQL, MongoDB) para ofrecer una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experiencia completa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usuarios finales, mediante la creación de un ecosistema de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libros y reseñas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, un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como punto único de entrada, consumiendo datos de fuentes externas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(Open Library API)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y proporcionando interfaces tanto web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(Single Page Application)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como programática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(APIs RESTful documentadas con OpenAPI 3.0)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31048" y="-2211751"/>
            <a:ext cx="9879865" cy="8751524"/>
          </a:xfrm>
          <a:custGeom>
            <a:avLst/>
            <a:gdLst/>
            <a:ahLst/>
            <a:cxnLst/>
            <a:rect r="r" b="b" t="t" l="l"/>
            <a:pathLst>
              <a:path h="8751524" w="9879865">
                <a:moveTo>
                  <a:pt x="0" y="0"/>
                </a:moveTo>
                <a:lnTo>
                  <a:pt x="9879864" y="0"/>
                </a:lnTo>
                <a:lnTo>
                  <a:pt x="9879864" y="8751524"/>
                </a:lnTo>
                <a:lnTo>
                  <a:pt x="0" y="87515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09462" y="4736404"/>
            <a:ext cx="3498469" cy="535153"/>
            <a:chOff x="0" y="0"/>
            <a:chExt cx="921407" cy="14094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CATALOGO</a:t>
              </a: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8773704" y="2931685"/>
            <a:ext cx="7830544" cy="523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99"/>
              </a:lnSpc>
            </a:pPr>
            <a:r>
              <a:rPr lang="en-US" b="true" sz="2999" spc="239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PRINCIPALES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13575" y="1502935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FUNCIONALIDADES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09462" y="5355313"/>
            <a:ext cx="3498469" cy="1702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6"/>
              </a:lnSpc>
            </a:pP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catálogo inteligente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donde la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búsqueda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se puede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filtrar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por género, autor y año.</a:t>
            </a:r>
          </a:p>
          <a:p>
            <a:pPr algn="ctr">
              <a:lnSpc>
                <a:spcPts val="2756"/>
              </a:lnSpc>
            </a:pPr>
          </a:p>
        </p:txBody>
      </p:sp>
      <p:grpSp>
        <p:nvGrpSpPr>
          <p:cNvPr name="Group 9" id="9"/>
          <p:cNvGrpSpPr/>
          <p:nvPr/>
        </p:nvGrpSpPr>
        <p:grpSpPr>
          <a:xfrm rot="0">
            <a:off x="5658993" y="4736404"/>
            <a:ext cx="3498469" cy="535153"/>
            <a:chOff x="0" y="0"/>
            <a:chExt cx="921407" cy="14094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RESEÑAS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5658993" y="5355313"/>
            <a:ext cx="3498469" cy="1702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6"/>
              </a:lnSpc>
            </a:pP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sistema de reseñas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donde los usuarios pueden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valorar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libros (1-5 estrellas) y escribir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comentarios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ctr">
              <a:lnSpc>
                <a:spcPts val="2756"/>
              </a:lnSpc>
            </a:pP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760831" y="5143500"/>
            <a:ext cx="10229002" cy="9060787"/>
          </a:xfrm>
          <a:custGeom>
            <a:avLst/>
            <a:gdLst/>
            <a:ahLst/>
            <a:cxnLst/>
            <a:rect r="r" b="b" t="t" l="l"/>
            <a:pathLst>
              <a:path h="9060787" w="10229002">
                <a:moveTo>
                  <a:pt x="0" y="0"/>
                </a:moveTo>
                <a:lnTo>
                  <a:pt x="10229002" y="0"/>
                </a:lnTo>
                <a:lnTo>
                  <a:pt x="10229002" y="9060787"/>
                </a:lnTo>
                <a:lnTo>
                  <a:pt x="0" y="90607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3760831" y="4736404"/>
            <a:ext cx="3498469" cy="535153"/>
            <a:chOff x="0" y="0"/>
            <a:chExt cx="921407" cy="14094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LOGIN Y REGISTRO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3760831" y="5355313"/>
            <a:ext cx="3498469" cy="1702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6"/>
              </a:lnSpc>
            </a:pP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Una pestaña con un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formulario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donde los usuarios pueden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registrarse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iniciar sesión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ctr">
              <a:lnSpc>
                <a:spcPts val="2756"/>
              </a:lnSpc>
            </a:pPr>
          </a:p>
        </p:txBody>
      </p:sp>
      <p:grpSp>
        <p:nvGrpSpPr>
          <p:cNvPr name="Group 18" id="18"/>
          <p:cNvGrpSpPr/>
          <p:nvPr/>
        </p:nvGrpSpPr>
        <p:grpSpPr>
          <a:xfrm rot="0">
            <a:off x="9709912" y="4736404"/>
            <a:ext cx="3498469" cy="535153"/>
            <a:chOff x="0" y="0"/>
            <a:chExt cx="921407" cy="14094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IMPORTACIÓN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709912" y="5355313"/>
            <a:ext cx="3498469" cy="1359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6"/>
              </a:lnSpc>
            </a:pP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Una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importación automática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 datos con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Open Library API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datos bibliográficos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65714" y="1160758"/>
            <a:ext cx="12821705" cy="2997074"/>
          </a:xfrm>
          <a:custGeom>
            <a:avLst/>
            <a:gdLst/>
            <a:ahLst/>
            <a:cxnLst/>
            <a:rect r="r" b="b" t="t" l="l"/>
            <a:pathLst>
              <a:path h="2997074" w="12821705">
                <a:moveTo>
                  <a:pt x="0" y="0"/>
                </a:moveTo>
                <a:lnTo>
                  <a:pt x="12821705" y="0"/>
                </a:lnTo>
                <a:lnTo>
                  <a:pt x="12821705" y="2997073"/>
                </a:lnTo>
                <a:lnTo>
                  <a:pt x="0" y="29970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65714" y="4157831"/>
            <a:ext cx="12821705" cy="4968411"/>
          </a:xfrm>
          <a:custGeom>
            <a:avLst/>
            <a:gdLst/>
            <a:ahLst/>
            <a:cxnLst/>
            <a:rect r="r" b="b" t="t" l="l"/>
            <a:pathLst>
              <a:path h="4968411" w="12821705">
                <a:moveTo>
                  <a:pt x="0" y="0"/>
                </a:moveTo>
                <a:lnTo>
                  <a:pt x="12821705" y="0"/>
                </a:lnTo>
                <a:lnTo>
                  <a:pt x="12821705" y="4968411"/>
                </a:lnTo>
                <a:lnTo>
                  <a:pt x="0" y="4968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424617" y="4395787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31048" y="-2211751"/>
            <a:ext cx="9879865" cy="8751524"/>
          </a:xfrm>
          <a:custGeom>
            <a:avLst/>
            <a:gdLst/>
            <a:ahLst/>
            <a:cxnLst/>
            <a:rect r="r" b="b" t="t" l="l"/>
            <a:pathLst>
              <a:path h="8751524" w="9879865">
                <a:moveTo>
                  <a:pt x="0" y="0"/>
                </a:moveTo>
                <a:lnTo>
                  <a:pt x="9879864" y="0"/>
                </a:lnTo>
                <a:lnTo>
                  <a:pt x="9879864" y="8751524"/>
                </a:lnTo>
                <a:lnTo>
                  <a:pt x="0" y="87515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013575" y="1502935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 DE DATOS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835533" y="3901990"/>
            <a:ext cx="4214848" cy="644735"/>
            <a:chOff x="0" y="0"/>
            <a:chExt cx="921407" cy="1409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MYSQL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835533" y="4636384"/>
            <a:ext cx="4214848" cy="2475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Datos</a:t>
            </a: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estructurados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lib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(r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lacion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l)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libros: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id, titulo, autor, isbn,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ñ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,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género, editorial, descrip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ci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ón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2237619" y="3901990"/>
            <a:ext cx="4214848" cy="644735"/>
            <a:chOff x="0" y="0"/>
            <a:chExt cx="921407" cy="14094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40"/>
                </a:lnSpc>
              </a:pPr>
              <a:r>
                <a:rPr lang="en-US" b="true" sz="1800" spc="144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INTEGRACIÓN EXTERNA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2237619" y="4636384"/>
            <a:ext cx="4214848" cy="4541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sz="2371" b="true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</a:t>
            </a: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 Library API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la </a:t>
            </a: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alimentación automática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del catálogo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 libros iniciales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cargados automáticamente al despl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egar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Búsqueda en tiempo real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du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ante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con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ultas d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u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uar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037268" y="3901990"/>
            <a:ext cx="4214848" cy="644735"/>
            <a:chOff x="0" y="0"/>
            <a:chExt cx="921407" cy="1409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MONGODB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7037268" y="4636384"/>
            <a:ext cx="4214848" cy="4541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sz="2371" b="true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</a:t>
            </a: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atos semi-estructurados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(n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relacional)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users: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_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d, nom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br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e,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email, password(hash), role, fechaRegistro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reviews: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_id, libro_id, usuario_id, calificación, comentario, fecha, likes</a:t>
            </a:r>
          </a:p>
          <a:p>
            <a:pPr algn="l">
              <a:lnSpc>
                <a:spcPts val="3320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1113500" y="7462685"/>
            <a:ext cx="6376911" cy="5648629"/>
          </a:xfrm>
          <a:custGeom>
            <a:avLst/>
            <a:gdLst/>
            <a:ahLst/>
            <a:cxnLst/>
            <a:rect r="r" b="b" t="t" l="l"/>
            <a:pathLst>
              <a:path h="5648629" w="6376911">
                <a:moveTo>
                  <a:pt x="6376911" y="0"/>
                </a:moveTo>
                <a:lnTo>
                  <a:pt x="0" y="0"/>
                </a:lnTo>
                <a:lnTo>
                  <a:pt x="0" y="5648630"/>
                </a:lnTo>
                <a:lnTo>
                  <a:pt x="6376911" y="5648630"/>
                </a:lnTo>
                <a:lnTo>
                  <a:pt x="637691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283223" y="-3248789"/>
            <a:ext cx="8411905" cy="7451214"/>
          </a:xfrm>
          <a:custGeom>
            <a:avLst/>
            <a:gdLst/>
            <a:ahLst/>
            <a:cxnLst/>
            <a:rect r="r" b="b" t="t" l="l"/>
            <a:pathLst>
              <a:path h="7451214" w="8411905">
                <a:moveTo>
                  <a:pt x="8411904" y="0"/>
                </a:moveTo>
                <a:lnTo>
                  <a:pt x="0" y="0"/>
                </a:lnTo>
                <a:lnTo>
                  <a:pt x="0" y="7451213"/>
                </a:lnTo>
                <a:lnTo>
                  <a:pt x="8411904" y="7451213"/>
                </a:lnTo>
                <a:lnTo>
                  <a:pt x="841190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739649" y="5556485"/>
            <a:ext cx="1932243" cy="1259465"/>
            <a:chOff x="0" y="0"/>
            <a:chExt cx="508904" cy="33171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303996" y="1242853"/>
            <a:ext cx="10584565" cy="2428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536"/>
              </a:lnSpc>
              <a:spcBef>
                <a:spcPct val="0"/>
              </a:spcBef>
            </a:pPr>
            <a:r>
              <a:rPr lang="en-US" b="true" sz="7947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DE LA SOLUCIÓN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31381" y="5856652"/>
            <a:ext cx="1748780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Frontend (React)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733472" y="5556485"/>
            <a:ext cx="1932243" cy="1259465"/>
            <a:chOff x="0" y="0"/>
            <a:chExt cx="508904" cy="3317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5825204" y="5856652"/>
            <a:ext cx="1748780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 (Node.js)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727296" y="3463125"/>
            <a:ext cx="2161266" cy="1408745"/>
            <a:chOff x="0" y="0"/>
            <a:chExt cx="569222" cy="37102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9222" cy="371028"/>
            </a:xfrm>
            <a:custGeom>
              <a:avLst/>
              <a:gdLst/>
              <a:ahLst/>
              <a:cxnLst/>
              <a:rect r="r" b="b" t="t" l="l"/>
              <a:pathLst>
                <a:path h="371028" w="569222">
                  <a:moveTo>
                    <a:pt x="71642" y="0"/>
                  </a:moveTo>
                  <a:lnTo>
                    <a:pt x="497580" y="0"/>
                  </a:lnTo>
                  <a:cubicBezTo>
                    <a:pt x="537147" y="0"/>
                    <a:pt x="569222" y="32075"/>
                    <a:pt x="569222" y="71642"/>
                  </a:cubicBezTo>
                  <a:lnTo>
                    <a:pt x="569222" y="299385"/>
                  </a:lnTo>
                  <a:cubicBezTo>
                    <a:pt x="569222" y="338952"/>
                    <a:pt x="537147" y="371028"/>
                    <a:pt x="497580" y="371028"/>
                  </a:cubicBezTo>
                  <a:lnTo>
                    <a:pt x="71642" y="371028"/>
                  </a:lnTo>
                  <a:cubicBezTo>
                    <a:pt x="32075" y="371028"/>
                    <a:pt x="0" y="338952"/>
                    <a:pt x="0" y="299385"/>
                  </a:cubicBezTo>
                  <a:lnTo>
                    <a:pt x="0" y="71642"/>
                  </a:lnTo>
                  <a:cubicBezTo>
                    <a:pt x="0" y="32075"/>
                    <a:pt x="32075" y="0"/>
                    <a:pt x="71642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569222" cy="418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9872706" y="3680770"/>
            <a:ext cx="1870444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A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Libros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(Python)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727296" y="5481844"/>
            <a:ext cx="2161266" cy="1408745"/>
            <a:chOff x="0" y="0"/>
            <a:chExt cx="569222" cy="3710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69222" cy="371028"/>
            </a:xfrm>
            <a:custGeom>
              <a:avLst/>
              <a:gdLst/>
              <a:ahLst/>
              <a:cxnLst/>
              <a:rect r="r" b="b" t="t" l="l"/>
              <a:pathLst>
                <a:path h="371028" w="569222">
                  <a:moveTo>
                    <a:pt x="71642" y="0"/>
                  </a:moveTo>
                  <a:lnTo>
                    <a:pt x="497580" y="0"/>
                  </a:lnTo>
                  <a:cubicBezTo>
                    <a:pt x="537147" y="0"/>
                    <a:pt x="569222" y="32075"/>
                    <a:pt x="569222" y="71642"/>
                  </a:cubicBezTo>
                  <a:lnTo>
                    <a:pt x="569222" y="299385"/>
                  </a:lnTo>
                  <a:cubicBezTo>
                    <a:pt x="569222" y="338952"/>
                    <a:pt x="537147" y="371028"/>
                    <a:pt x="497580" y="371028"/>
                  </a:cubicBezTo>
                  <a:lnTo>
                    <a:pt x="71642" y="371028"/>
                  </a:lnTo>
                  <a:cubicBezTo>
                    <a:pt x="32075" y="371028"/>
                    <a:pt x="0" y="338952"/>
                    <a:pt x="0" y="299385"/>
                  </a:cubicBezTo>
                  <a:lnTo>
                    <a:pt x="0" y="71642"/>
                  </a:lnTo>
                  <a:cubicBezTo>
                    <a:pt x="0" y="32075"/>
                    <a:pt x="32075" y="0"/>
                    <a:pt x="71642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569222" cy="418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872706" y="5699489"/>
            <a:ext cx="1870444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B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Reseñas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(Node.js)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3983215" y="3537765"/>
            <a:ext cx="1932243" cy="1259465"/>
            <a:chOff x="0" y="0"/>
            <a:chExt cx="508904" cy="33171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4074946" y="3995095"/>
            <a:ext cx="174878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MySQL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3983215" y="5556485"/>
            <a:ext cx="1932243" cy="1259465"/>
            <a:chOff x="0" y="0"/>
            <a:chExt cx="508904" cy="33171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074946" y="6013814"/>
            <a:ext cx="174878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MongoDB</a:t>
            </a:r>
          </a:p>
        </p:txBody>
      </p:sp>
      <p:sp>
        <p:nvSpPr>
          <p:cNvPr name="AutoShape 29" id="29"/>
          <p:cNvSpPr/>
          <p:nvPr/>
        </p:nvSpPr>
        <p:spPr>
          <a:xfrm flipV="true">
            <a:off x="3580161" y="6186217"/>
            <a:ext cx="2153312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0" id="30"/>
          <p:cNvSpPr/>
          <p:nvPr/>
        </p:nvSpPr>
        <p:spPr>
          <a:xfrm>
            <a:off x="7665716" y="6186217"/>
            <a:ext cx="820263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 flipV="true">
            <a:off x="8485979" y="4167498"/>
            <a:ext cx="0" cy="4037064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8485979" y="4167498"/>
            <a:ext cx="1241317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3" id="33"/>
          <p:cNvSpPr/>
          <p:nvPr/>
        </p:nvSpPr>
        <p:spPr>
          <a:xfrm flipV="true">
            <a:off x="8485979" y="6186217"/>
            <a:ext cx="1241317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4" id="34"/>
          <p:cNvSpPr/>
          <p:nvPr/>
        </p:nvSpPr>
        <p:spPr>
          <a:xfrm flipV="true">
            <a:off x="11888561" y="4167498"/>
            <a:ext cx="2094653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5" id="35"/>
          <p:cNvSpPr/>
          <p:nvPr/>
        </p:nvSpPr>
        <p:spPr>
          <a:xfrm>
            <a:off x="11888561" y="6186217"/>
            <a:ext cx="2094653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6" id="36"/>
          <p:cNvGrpSpPr/>
          <p:nvPr/>
        </p:nvGrpSpPr>
        <p:grpSpPr>
          <a:xfrm rot="0">
            <a:off x="9727296" y="7500190"/>
            <a:ext cx="2161266" cy="1408745"/>
            <a:chOff x="0" y="0"/>
            <a:chExt cx="569222" cy="37102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69222" cy="371028"/>
            </a:xfrm>
            <a:custGeom>
              <a:avLst/>
              <a:gdLst/>
              <a:ahLst/>
              <a:cxnLst/>
              <a:rect r="r" b="b" t="t" l="l"/>
              <a:pathLst>
                <a:path h="371028" w="569222">
                  <a:moveTo>
                    <a:pt x="71642" y="0"/>
                  </a:moveTo>
                  <a:lnTo>
                    <a:pt x="497580" y="0"/>
                  </a:lnTo>
                  <a:cubicBezTo>
                    <a:pt x="537147" y="0"/>
                    <a:pt x="569222" y="32075"/>
                    <a:pt x="569222" y="71642"/>
                  </a:cubicBezTo>
                  <a:lnTo>
                    <a:pt x="569222" y="299385"/>
                  </a:lnTo>
                  <a:cubicBezTo>
                    <a:pt x="569222" y="338952"/>
                    <a:pt x="537147" y="371028"/>
                    <a:pt x="497580" y="371028"/>
                  </a:cubicBezTo>
                  <a:lnTo>
                    <a:pt x="71642" y="371028"/>
                  </a:lnTo>
                  <a:cubicBezTo>
                    <a:pt x="32075" y="371028"/>
                    <a:pt x="0" y="338952"/>
                    <a:pt x="0" y="299385"/>
                  </a:cubicBezTo>
                  <a:lnTo>
                    <a:pt x="0" y="71642"/>
                  </a:lnTo>
                  <a:cubicBezTo>
                    <a:pt x="0" y="32075"/>
                    <a:pt x="32075" y="0"/>
                    <a:pt x="71642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47625"/>
              <a:ext cx="569222" cy="418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9872706" y="7717835"/>
            <a:ext cx="1870444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C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Auth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(Node.js)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3983215" y="7574830"/>
            <a:ext cx="1932243" cy="1259465"/>
            <a:chOff x="0" y="0"/>
            <a:chExt cx="508904" cy="33171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14074946" y="8032160"/>
            <a:ext cx="174878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MongoDB</a:t>
            </a:r>
          </a:p>
        </p:txBody>
      </p:sp>
      <p:sp>
        <p:nvSpPr>
          <p:cNvPr name="AutoShape 44" id="44"/>
          <p:cNvSpPr/>
          <p:nvPr/>
        </p:nvSpPr>
        <p:spPr>
          <a:xfrm flipV="true">
            <a:off x="8485979" y="8204562"/>
            <a:ext cx="1241317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5" id="45"/>
          <p:cNvSpPr/>
          <p:nvPr/>
        </p:nvSpPr>
        <p:spPr>
          <a:xfrm>
            <a:off x="11888561" y="8204562"/>
            <a:ext cx="2094653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305" r="0" b="-9305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50A30">
                <a:alpha val="56863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274726" cy="21960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885878" y="3011805"/>
            <a:ext cx="13780624" cy="423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716"/>
              </a:lnSpc>
              <a:spcBef>
                <a:spcPct val="0"/>
              </a:spcBef>
            </a:pPr>
            <a:r>
              <a:rPr lang="en-US" b="true" sz="1393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TECNOLOGIAS A UTILIZAR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1318195" y="6207257"/>
            <a:ext cx="9856051" cy="8730429"/>
          </a:xfrm>
          <a:custGeom>
            <a:avLst/>
            <a:gdLst/>
            <a:ahLst/>
            <a:cxnLst/>
            <a:rect r="r" b="b" t="t" l="l"/>
            <a:pathLst>
              <a:path h="8730429" w="9856051">
                <a:moveTo>
                  <a:pt x="0" y="0"/>
                </a:moveTo>
                <a:lnTo>
                  <a:pt x="9856050" y="0"/>
                </a:lnTo>
                <a:lnTo>
                  <a:pt x="9856050" y="8730429"/>
                </a:lnTo>
                <a:lnTo>
                  <a:pt x="0" y="873042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4928025" y="-3336515"/>
            <a:ext cx="9856051" cy="8730429"/>
          </a:xfrm>
          <a:custGeom>
            <a:avLst/>
            <a:gdLst/>
            <a:ahLst/>
            <a:cxnLst/>
            <a:rect r="r" b="b" t="t" l="l"/>
            <a:pathLst>
              <a:path h="8730429" w="9856051">
                <a:moveTo>
                  <a:pt x="0" y="0"/>
                </a:moveTo>
                <a:lnTo>
                  <a:pt x="9856050" y="0"/>
                </a:lnTo>
                <a:lnTo>
                  <a:pt x="9856050" y="8730430"/>
                </a:lnTo>
                <a:lnTo>
                  <a:pt x="0" y="87304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291708" y="-5884500"/>
            <a:ext cx="12413176" cy="10995516"/>
          </a:xfrm>
          <a:custGeom>
            <a:avLst/>
            <a:gdLst/>
            <a:ahLst/>
            <a:cxnLst/>
            <a:rect r="r" b="b" t="t" l="l"/>
            <a:pathLst>
              <a:path h="10995516" w="12413176">
                <a:moveTo>
                  <a:pt x="0" y="0"/>
                </a:moveTo>
                <a:lnTo>
                  <a:pt x="12413176" y="0"/>
                </a:lnTo>
                <a:lnTo>
                  <a:pt x="12413176" y="10995515"/>
                </a:lnTo>
                <a:lnTo>
                  <a:pt x="0" y="109955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2458" y="462616"/>
            <a:ext cx="6639963" cy="9296798"/>
          </a:xfrm>
          <a:custGeom>
            <a:avLst/>
            <a:gdLst/>
            <a:ahLst/>
            <a:cxnLst/>
            <a:rect r="r" b="b" t="t" l="l"/>
            <a:pathLst>
              <a:path h="9296798" w="6639963">
                <a:moveTo>
                  <a:pt x="0" y="0"/>
                </a:moveTo>
                <a:lnTo>
                  <a:pt x="6639963" y="0"/>
                </a:lnTo>
                <a:lnTo>
                  <a:pt x="6639963" y="9296799"/>
                </a:lnTo>
                <a:lnTo>
                  <a:pt x="0" y="92967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3027" t="0" r="-15884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771927" y="1368438"/>
            <a:ext cx="7831775" cy="1601953"/>
            <a:chOff x="0" y="0"/>
            <a:chExt cx="2062690" cy="421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62690" cy="421913"/>
            </a:xfrm>
            <a:custGeom>
              <a:avLst/>
              <a:gdLst/>
              <a:ahLst/>
              <a:cxnLst/>
              <a:rect r="r" b="b" t="t" l="l"/>
              <a:pathLst>
                <a:path h="421913" w="2062690">
                  <a:moveTo>
                    <a:pt x="19771" y="0"/>
                  </a:moveTo>
                  <a:lnTo>
                    <a:pt x="2042919" y="0"/>
                  </a:lnTo>
                  <a:cubicBezTo>
                    <a:pt x="2048163" y="0"/>
                    <a:pt x="2053192" y="2083"/>
                    <a:pt x="2056899" y="5791"/>
                  </a:cubicBezTo>
                  <a:cubicBezTo>
                    <a:pt x="2060607" y="9498"/>
                    <a:pt x="2062690" y="14527"/>
                    <a:pt x="2062690" y="19771"/>
                  </a:cubicBezTo>
                  <a:lnTo>
                    <a:pt x="2062690" y="402143"/>
                  </a:lnTo>
                  <a:cubicBezTo>
                    <a:pt x="2062690" y="413062"/>
                    <a:pt x="2053838" y="421913"/>
                    <a:pt x="2042919" y="421913"/>
                  </a:cubicBezTo>
                  <a:lnTo>
                    <a:pt x="19771" y="421913"/>
                  </a:lnTo>
                  <a:cubicBezTo>
                    <a:pt x="14527" y="421913"/>
                    <a:pt x="9498" y="419830"/>
                    <a:pt x="5791" y="416123"/>
                  </a:cubicBezTo>
                  <a:cubicBezTo>
                    <a:pt x="2083" y="412415"/>
                    <a:pt x="0" y="407386"/>
                    <a:pt x="0" y="402143"/>
                  </a:cubicBezTo>
                  <a:lnTo>
                    <a:pt x="0" y="19771"/>
                  </a:lnTo>
                  <a:cubicBezTo>
                    <a:pt x="0" y="8852"/>
                    <a:pt x="8852" y="0"/>
                    <a:pt x="19771" y="0"/>
                  </a:cubicBezTo>
                  <a:close/>
                </a:path>
              </a:pathLst>
            </a:custGeom>
            <a:solidFill>
              <a:srgbClr val="24304C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062690" cy="50763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8160"/>
                </a:lnSpc>
              </a:pPr>
              <a:r>
                <a:rPr lang="en-US" b="true" sz="6000">
                  <a:solidFill>
                    <a:srgbClr val="5CB6F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MICROSERVICIOS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7303396" y="7887998"/>
            <a:ext cx="2646746" cy="1488795"/>
          </a:xfrm>
          <a:custGeom>
            <a:avLst/>
            <a:gdLst/>
            <a:ahLst/>
            <a:cxnLst/>
            <a:rect r="r" b="b" t="t" l="l"/>
            <a:pathLst>
              <a:path h="1488795" w="2646746">
                <a:moveTo>
                  <a:pt x="0" y="0"/>
                </a:moveTo>
                <a:lnTo>
                  <a:pt x="2646746" y="0"/>
                </a:lnTo>
                <a:lnTo>
                  <a:pt x="2646746" y="1488794"/>
                </a:lnTo>
                <a:lnTo>
                  <a:pt x="0" y="14887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836641" y="6679436"/>
            <a:ext cx="1961105" cy="1961105"/>
          </a:xfrm>
          <a:custGeom>
            <a:avLst/>
            <a:gdLst/>
            <a:ahLst/>
            <a:cxnLst/>
            <a:rect r="r" b="b" t="t" l="l"/>
            <a:pathLst>
              <a:path h="1961105" w="1961105">
                <a:moveTo>
                  <a:pt x="0" y="0"/>
                </a:moveTo>
                <a:lnTo>
                  <a:pt x="1961105" y="0"/>
                </a:lnTo>
                <a:lnTo>
                  <a:pt x="1961105" y="1961105"/>
                </a:lnTo>
                <a:lnTo>
                  <a:pt x="0" y="1961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1978721" y="8632395"/>
            <a:ext cx="2812813" cy="515353"/>
          </a:xfrm>
          <a:custGeom>
            <a:avLst/>
            <a:gdLst/>
            <a:ahLst/>
            <a:cxnLst/>
            <a:rect r="r" b="b" t="t" l="l"/>
            <a:pathLst>
              <a:path h="515353" w="2812813">
                <a:moveTo>
                  <a:pt x="0" y="0"/>
                </a:moveTo>
                <a:lnTo>
                  <a:pt x="2812813" y="0"/>
                </a:lnTo>
                <a:lnTo>
                  <a:pt x="2812813" y="515353"/>
                </a:lnTo>
                <a:lnTo>
                  <a:pt x="0" y="5153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973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5291708" y="6964818"/>
            <a:ext cx="1390340" cy="1390340"/>
          </a:xfrm>
          <a:custGeom>
            <a:avLst/>
            <a:gdLst/>
            <a:ahLst/>
            <a:cxnLst/>
            <a:rect r="r" b="b" t="t" l="l"/>
            <a:pathLst>
              <a:path h="1390340" w="1390340">
                <a:moveTo>
                  <a:pt x="0" y="0"/>
                </a:moveTo>
                <a:lnTo>
                  <a:pt x="1390340" y="0"/>
                </a:lnTo>
                <a:lnTo>
                  <a:pt x="1390340" y="1390340"/>
                </a:lnTo>
                <a:lnTo>
                  <a:pt x="0" y="139034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7569304" y="3233319"/>
            <a:ext cx="9466534" cy="3850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Gateway: 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Node.js + Express.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Libros: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Python + FastAPI.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Reseñas: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Node.js + Express.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Auth: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Node.js + Express + JWT.</a:t>
            </a:r>
          </a:p>
          <a:p>
            <a:pPr algn="just">
              <a:lnSpc>
                <a:spcPts val="3839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291708" y="-5884500"/>
            <a:ext cx="12413176" cy="10995516"/>
          </a:xfrm>
          <a:custGeom>
            <a:avLst/>
            <a:gdLst/>
            <a:ahLst/>
            <a:cxnLst/>
            <a:rect r="r" b="b" t="t" l="l"/>
            <a:pathLst>
              <a:path h="10995516" w="12413176">
                <a:moveTo>
                  <a:pt x="0" y="0"/>
                </a:moveTo>
                <a:lnTo>
                  <a:pt x="12413176" y="0"/>
                </a:lnTo>
                <a:lnTo>
                  <a:pt x="12413176" y="10995515"/>
                </a:lnTo>
                <a:lnTo>
                  <a:pt x="0" y="109955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2458" y="407185"/>
            <a:ext cx="6635590" cy="9352229"/>
          </a:xfrm>
          <a:custGeom>
            <a:avLst/>
            <a:gdLst/>
            <a:ahLst/>
            <a:cxnLst/>
            <a:rect r="r" b="b" t="t" l="l"/>
            <a:pathLst>
              <a:path h="9352229" w="6635590">
                <a:moveTo>
                  <a:pt x="0" y="0"/>
                </a:moveTo>
                <a:lnTo>
                  <a:pt x="6635590" y="0"/>
                </a:lnTo>
                <a:lnTo>
                  <a:pt x="6635590" y="9352230"/>
                </a:lnTo>
                <a:lnTo>
                  <a:pt x="0" y="93522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56634" t="0" r="-150413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771927" y="1368438"/>
            <a:ext cx="7831775" cy="1601953"/>
            <a:chOff x="0" y="0"/>
            <a:chExt cx="2062690" cy="421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62690" cy="421913"/>
            </a:xfrm>
            <a:custGeom>
              <a:avLst/>
              <a:gdLst/>
              <a:ahLst/>
              <a:cxnLst/>
              <a:rect r="r" b="b" t="t" l="l"/>
              <a:pathLst>
                <a:path h="421913" w="2062690">
                  <a:moveTo>
                    <a:pt x="19771" y="0"/>
                  </a:moveTo>
                  <a:lnTo>
                    <a:pt x="2042919" y="0"/>
                  </a:lnTo>
                  <a:cubicBezTo>
                    <a:pt x="2048163" y="0"/>
                    <a:pt x="2053192" y="2083"/>
                    <a:pt x="2056899" y="5791"/>
                  </a:cubicBezTo>
                  <a:cubicBezTo>
                    <a:pt x="2060607" y="9498"/>
                    <a:pt x="2062690" y="14527"/>
                    <a:pt x="2062690" y="19771"/>
                  </a:cubicBezTo>
                  <a:lnTo>
                    <a:pt x="2062690" y="402143"/>
                  </a:lnTo>
                  <a:cubicBezTo>
                    <a:pt x="2062690" y="413062"/>
                    <a:pt x="2053838" y="421913"/>
                    <a:pt x="2042919" y="421913"/>
                  </a:cubicBezTo>
                  <a:lnTo>
                    <a:pt x="19771" y="421913"/>
                  </a:lnTo>
                  <a:cubicBezTo>
                    <a:pt x="14527" y="421913"/>
                    <a:pt x="9498" y="419830"/>
                    <a:pt x="5791" y="416123"/>
                  </a:cubicBezTo>
                  <a:cubicBezTo>
                    <a:pt x="2083" y="412415"/>
                    <a:pt x="0" y="407386"/>
                    <a:pt x="0" y="402143"/>
                  </a:cubicBezTo>
                  <a:lnTo>
                    <a:pt x="0" y="19771"/>
                  </a:lnTo>
                  <a:cubicBezTo>
                    <a:pt x="0" y="8852"/>
                    <a:pt x="8852" y="0"/>
                    <a:pt x="19771" y="0"/>
                  </a:cubicBezTo>
                  <a:close/>
                </a:path>
              </a:pathLst>
            </a:custGeom>
            <a:solidFill>
              <a:srgbClr val="24304C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062690" cy="50763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 marL="0" indent="0" lvl="0">
                <a:lnSpc>
                  <a:spcPts val="8160"/>
                </a:lnSpc>
                <a:spcBef>
                  <a:spcPct val="0"/>
                </a:spcBef>
              </a:pPr>
              <a:r>
                <a:rPr lang="en-US" b="true" sz="6000" strike="noStrike" u="none">
                  <a:solidFill>
                    <a:srgbClr val="5CB6F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BASE DE DATOS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8229017" y="6708945"/>
            <a:ext cx="3396199" cy="2549355"/>
          </a:xfrm>
          <a:custGeom>
            <a:avLst/>
            <a:gdLst/>
            <a:ahLst/>
            <a:cxnLst/>
            <a:rect r="r" b="b" t="t" l="l"/>
            <a:pathLst>
              <a:path h="2549355" w="3396199">
                <a:moveTo>
                  <a:pt x="0" y="0"/>
                </a:moveTo>
                <a:lnTo>
                  <a:pt x="3396199" y="0"/>
                </a:lnTo>
                <a:lnTo>
                  <a:pt x="3396199" y="2549355"/>
                </a:lnTo>
                <a:lnTo>
                  <a:pt x="0" y="25493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042972" y="6605129"/>
            <a:ext cx="2653171" cy="2653171"/>
          </a:xfrm>
          <a:custGeom>
            <a:avLst/>
            <a:gdLst/>
            <a:ahLst/>
            <a:cxnLst/>
            <a:rect r="r" b="b" t="t" l="l"/>
            <a:pathLst>
              <a:path h="2653171" w="2653171">
                <a:moveTo>
                  <a:pt x="0" y="0"/>
                </a:moveTo>
                <a:lnTo>
                  <a:pt x="2653172" y="0"/>
                </a:lnTo>
                <a:lnTo>
                  <a:pt x="2653172" y="2653171"/>
                </a:lnTo>
                <a:lnTo>
                  <a:pt x="0" y="26531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569304" y="3613403"/>
            <a:ext cx="6966774" cy="2392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MySQL: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Datos estru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cturados de libros (relacional)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MongoDB: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Datos de usua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rios y reseñas (no relacional)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291708" y="-5884500"/>
            <a:ext cx="12413176" cy="10995516"/>
          </a:xfrm>
          <a:custGeom>
            <a:avLst/>
            <a:gdLst/>
            <a:ahLst/>
            <a:cxnLst/>
            <a:rect r="r" b="b" t="t" l="l"/>
            <a:pathLst>
              <a:path h="10995516" w="12413176">
                <a:moveTo>
                  <a:pt x="0" y="0"/>
                </a:moveTo>
                <a:lnTo>
                  <a:pt x="12413176" y="0"/>
                </a:lnTo>
                <a:lnTo>
                  <a:pt x="12413176" y="10995515"/>
                </a:lnTo>
                <a:lnTo>
                  <a:pt x="0" y="109955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2458" y="462616"/>
            <a:ext cx="6635590" cy="9296798"/>
          </a:xfrm>
          <a:custGeom>
            <a:avLst/>
            <a:gdLst/>
            <a:ahLst/>
            <a:cxnLst/>
            <a:rect r="r" b="b" t="t" l="l"/>
            <a:pathLst>
              <a:path h="9296798" w="6635590">
                <a:moveTo>
                  <a:pt x="0" y="0"/>
                </a:moveTo>
                <a:lnTo>
                  <a:pt x="6635590" y="0"/>
                </a:lnTo>
                <a:lnTo>
                  <a:pt x="6635590" y="9296799"/>
                </a:lnTo>
                <a:lnTo>
                  <a:pt x="0" y="92967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261" t="0" r="-138814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771927" y="1368438"/>
            <a:ext cx="7831775" cy="1601953"/>
            <a:chOff x="0" y="0"/>
            <a:chExt cx="2062690" cy="421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62690" cy="421913"/>
            </a:xfrm>
            <a:custGeom>
              <a:avLst/>
              <a:gdLst/>
              <a:ahLst/>
              <a:cxnLst/>
              <a:rect r="r" b="b" t="t" l="l"/>
              <a:pathLst>
                <a:path h="421913" w="2062690">
                  <a:moveTo>
                    <a:pt x="19771" y="0"/>
                  </a:moveTo>
                  <a:lnTo>
                    <a:pt x="2042919" y="0"/>
                  </a:lnTo>
                  <a:cubicBezTo>
                    <a:pt x="2048163" y="0"/>
                    <a:pt x="2053192" y="2083"/>
                    <a:pt x="2056899" y="5791"/>
                  </a:cubicBezTo>
                  <a:cubicBezTo>
                    <a:pt x="2060607" y="9498"/>
                    <a:pt x="2062690" y="14527"/>
                    <a:pt x="2062690" y="19771"/>
                  </a:cubicBezTo>
                  <a:lnTo>
                    <a:pt x="2062690" y="402143"/>
                  </a:lnTo>
                  <a:cubicBezTo>
                    <a:pt x="2062690" y="413062"/>
                    <a:pt x="2053838" y="421913"/>
                    <a:pt x="2042919" y="421913"/>
                  </a:cubicBezTo>
                  <a:lnTo>
                    <a:pt x="19771" y="421913"/>
                  </a:lnTo>
                  <a:cubicBezTo>
                    <a:pt x="14527" y="421913"/>
                    <a:pt x="9498" y="419830"/>
                    <a:pt x="5791" y="416123"/>
                  </a:cubicBezTo>
                  <a:cubicBezTo>
                    <a:pt x="2083" y="412415"/>
                    <a:pt x="0" y="407386"/>
                    <a:pt x="0" y="402143"/>
                  </a:cubicBezTo>
                  <a:lnTo>
                    <a:pt x="0" y="19771"/>
                  </a:lnTo>
                  <a:cubicBezTo>
                    <a:pt x="0" y="8852"/>
                    <a:pt x="8852" y="0"/>
                    <a:pt x="19771" y="0"/>
                  </a:cubicBezTo>
                  <a:close/>
                </a:path>
              </a:pathLst>
            </a:custGeom>
            <a:solidFill>
              <a:srgbClr val="24304C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062690" cy="50763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 marL="0" indent="0" lvl="0">
                <a:lnSpc>
                  <a:spcPts val="8160"/>
                </a:lnSpc>
                <a:spcBef>
                  <a:spcPct val="0"/>
                </a:spcBef>
              </a:pPr>
              <a:r>
                <a:rPr lang="en-US" b="true" sz="6000" strike="noStrike" u="none">
                  <a:solidFill>
                    <a:srgbClr val="5CB6F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FRONTEND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8291121" y="5996919"/>
            <a:ext cx="3074361" cy="3058455"/>
          </a:xfrm>
          <a:custGeom>
            <a:avLst/>
            <a:gdLst/>
            <a:ahLst/>
            <a:cxnLst/>
            <a:rect r="r" b="b" t="t" l="l"/>
            <a:pathLst>
              <a:path h="3058455" w="3074361">
                <a:moveTo>
                  <a:pt x="0" y="0"/>
                </a:moveTo>
                <a:lnTo>
                  <a:pt x="3074361" y="0"/>
                </a:lnTo>
                <a:lnTo>
                  <a:pt x="3074361" y="3058456"/>
                </a:lnTo>
                <a:lnTo>
                  <a:pt x="0" y="30584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16544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074475" y="5996919"/>
            <a:ext cx="3058455" cy="3058455"/>
          </a:xfrm>
          <a:custGeom>
            <a:avLst/>
            <a:gdLst/>
            <a:ahLst/>
            <a:cxnLst/>
            <a:rect r="r" b="b" t="t" l="l"/>
            <a:pathLst>
              <a:path h="3058455" w="3058455">
                <a:moveTo>
                  <a:pt x="0" y="0"/>
                </a:moveTo>
                <a:lnTo>
                  <a:pt x="3058455" y="0"/>
                </a:lnTo>
                <a:lnTo>
                  <a:pt x="3058455" y="3058456"/>
                </a:lnTo>
                <a:lnTo>
                  <a:pt x="0" y="30584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569304" y="3603878"/>
            <a:ext cx="6966774" cy="1534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61337" indent="-280669" lvl="1">
              <a:lnSpc>
                <a:spcPts val="4159"/>
              </a:lnSpc>
              <a:buFont typeface="Arial"/>
              <a:buChar char="•"/>
            </a:pPr>
            <a:r>
              <a:rPr lang="en-US" b="true" sz="25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React:</a:t>
            </a:r>
            <a:r>
              <a:rPr lang="en-US" sz="25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Single Page Application (SPA)</a:t>
            </a:r>
          </a:p>
          <a:p>
            <a:pPr algn="just">
              <a:lnSpc>
                <a:spcPts val="4159"/>
              </a:lnSpc>
            </a:pPr>
          </a:p>
          <a:p>
            <a:pPr algn="just" marL="561337" indent="-280669" lvl="1">
              <a:lnSpc>
                <a:spcPts val="4159"/>
              </a:lnSpc>
              <a:buFont typeface="Arial"/>
              <a:buChar char="•"/>
            </a:pPr>
            <a:r>
              <a:rPr lang="en-US" b="true" sz="25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Tailwind CSS:</a:t>
            </a:r>
            <a:r>
              <a:rPr lang="en-US" sz="25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Framework de est</a:t>
            </a:r>
            <a:r>
              <a:rPr lang="en-US" sz="25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ilos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82458" y="462616"/>
            <a:ext cx="6635590" cy="9296798"/>
          </a:xfrm>
          <a:custGeom>
            <a:avLst/>
            <a:gdLst/>
            <a:ahLst/>
            <a:cxnLst/>
            <a:rect r="r" b="b" t="t" l="l"/>
            <a:pathLst>
              <a:path h="9296798" w="6635590">
                <a:moveTo>
                  <a:pt x="0" y="0"/>
                </a:moveTo>
                <a:lnTo>
                  <a:pt x="6635590" y="0"/>
                </a:lnTo>
                <a:lnTo>
                  <a:pt x="6635590" y="9296799"/>
                </a:lnTo>
                <a:lnTo>
                  <a:pt x="0" y="92967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1794" t="0" r="-54417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029867" y="7280412"/>
            <a:ext cx="2134184" cy="1790047"/>
          </a:xfrm>
          <a:custGeom>
            <a:avLst/>
            <a:gdLst/>
            <a:ahLst/>
            <a:cxnLst/>
            <a:rect r="r" b="b" t="t" l="l"/>
            <a:pathLst>
              <a:path h="1790047" w="2134184">
                <a:moveTo>
                  <a:pt x="0" y="0"/>
                </a:moveTo>
                <a:lnTo>
                  <a:pt x="2134184" y="0"/>
                </a:lnTo>
                <a:lnTo>
                  <a:pt x="2134184" y="1790047"/>
                </a:lnTo>
                <a:lnTo>
                  <a:pt x="0" y="17900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771927" y="1368438"/>
            <a:ext cx="8670637" cy="1601953"/>
            <a:chOff x="0" y="0"/>
            <a:chExt cx="2283624" cy="421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83624" cy="421913"/>
            </a:xfrm>
            <a:custGeom>
              <a:avLst/>
              <a:gdLst/>
              <a:ahLst/>
              <a:cxnLst/>
              <a:rect r="r" b="b" t="t" l="l"/>
              <a:pathLst>
                <a:path h="421913" w="2283624">
                  <a:moveTo>
                    <a:pt x="17858" y="0"/>
                  </a:moveTo>
                  <a:lnTo>
                    <a:pt x="2265767" y="0"/>
                  </a:lnTo>
                  <a:cubicBezTo>
                    <a:pt x="2275629" y="0"/>
                    <a:pt x="2283624" y="7995"/>
                    <a:pt x="2283624" y="17858"/>
                  </a:cubicBezTo>
                  <a:lnTo>
                    <a:pt x="2283624" y="404056"/>
                  </a:lnTo>
                  <a:cubicBezTo>
                    <a:pt x="2283624" y="408792"/>
                    <a:pt x="2281743" y="413334"/>
                    <a:pt x="2278394" y="416683"/>
                  </a:cubicBezTo>
                  <a:cubicBezTo>
                    <a:pt x="2275045" y="420032"/>
                    <a:pt x="2270503" y="421913"/>
                    <a:pt x="2265767" y="421913"/>
                  </a:cubicBezTo>
                  <a:lnTo>
                    <a:pt x="17858" y="421913"/>
                  </a:lnTo>
                  <a:cubicBezTo>
                    <a:pt x="13122" y="421913"/>
                    <a:pt x="8579" y="420032"/>
                    <a:pt x="5230" y="416683"/>
                  </a:cubicBezTo>
                  <a:cubicBezTo>
                    <a:pt x="1881" y="413334"/>
                    <a:pt x="0" y="408792"/>
                    <a:pt x="0" y="404056"/>
                  </a:cubicBezTo>
                  <a:lnTo>
                    <a:pt x="0" y="17858"/>
                  </a:lnTo>
                  <a:cubicBezTo>
                    <a:pt x="0" y="13122"/>
                    <a:pt x="1881" y="8579"/>
                    <a:pt x="5230" y="5230"/>
                  </a:cubicBezTo>
                  <a:cubicBezTo>
                    <a:pt x="8579" y="1881"/>
                    <a:pt x="13122" y="0"/>
                    <a:pt x="17858" y="0"/>
                  </a:cubicBezTo>
                  <a:close/>
                </a:path>
              </a:pathLst>
            </a:custGeom>
            <a:solidFill>
              <a:srgbClr val="24304C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283624" cy="50763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 marL="0" indent="0" lvl="0">
                <a:lnSpc>
                  <a:spcPts val="8160"/>
                </a:lnSpc>
                <a:spcBef>
                  <a:spcPct val="0"/>
                </a:spcBef>
              </a:pPr>
              <a:r>
                <a:rPr lang="en-US" b="true" sz="6000" strike="noStrike" u="none">
                  <a:solidFill>
                    <a:srgbClr val="5CB6F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INFRAESTRUCTURA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1078451" y="7280412"/>
            <a:ext cx="1577479" cy="1790047"/>
          </a:xfrm>
          <a:custGeom>
            <a:avLst/>
            <a:gdLst/>
            <a:ahLst/>
            <a:cxnLst/>
            <a:rect r="r" b="b" t="t" l="l"/>
            <a:pathLst>
              <a:path h="1790047" w="1577479">
                <a:moveTo>
                  <a:pt x="0" y="0"/>
                </a:moveTo>
                <a:lnTo>
                  <a:pt x="1577479" y="0"/>
                </a:lnTo>
                <a:lnTo>
                  <a:pt x="1577479" y="1790047"/>
                </a:lnTo>
                <a:lnTo>
                  <a:pt x="0" y="17900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327453" y="7280412"/>
            <a:ext cx="3931847" cy="1695645"/>
          </a:xfrm>
          <a:custGeom>
            <a:avLst/>
            <a:gdLst/>
            <a:ahLst/>
            <a:cxnLst/>
            <a:rect r="r" b="b" t="t" l="l"/>
            <a:pathLst>
              <a:path h="1695645" w="3931847">
                <a:moveTo>
                  <a:pt x="0" y="0"/>
                </a:moveTo>
                <a:lnTo>
                  <a:pt x="3931847" y="0"/>
                </a:lnTo>
                <a:lnTo>
                  <a:pt x="3931847" y="1695644"/>
                </a:lnTo>
                <a:lnTo>
                  <a:pt x="0" y="16956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569304" y="3613403"/>
            <a:ext cx="10095110" cy="3363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Docker &amp; Docker Compose: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Containerización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OpenAPI 3.0/ Swagger: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Documentación de APIs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Nginx: 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Reverse Proxy en Docker (Director de tráfico entre contenedores)</a:t>
            </a:r>
          </a:p>
          <a:p>
            <a:pPr algn="just">
              <a:lnSpc>
                <a:spcPts val="3839"/>
              </a:lnSpc>
            </a:pP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726160" y="1551424"/>
            <a:ext cx="5440505" cy="5440505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021980" y="3128204"/>
            <a:ext cx="5440505" cy="5440505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>
                <a:alpha val="5098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768687" y="-1502203"/>
            <a:ext cx="5440505" cy="5440505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337617" y="-3006405"/>
            <a:ext cx="5440505" cy="544050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>
                <a:alpha val="5098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028700" y="2434099"/>
            <a:ext cx="11982907" cy="2438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b="true" sz="800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CARACTERISTICAS DE LA APP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09412" y="4976526"/>
            <a:ext cx="12002195" cy="4308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SPA (Single Page Application)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Navegación fluida sin recargas.</a:t>
            </a:r>
          </a:p>
          <a:p>
            <a:pPr algn="just" marL="518160" indent="-259080" lvl="1">
              <a:lnSpc>
                <a:spcPts val="4800"/>
              </a:lnSpc>
              <a:buFont typeface="Arial"/>
              <a:buChar char="•"/>
            </a:pPr>
            <a:r>
              <a:rPr lang="en-US" b="true" sz="240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Gateway:</a:t>
            </a:r>
            <a:r>
              <a:rPr lang="en-US" sz="240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tener un punto único de entrada a los microservicios.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Cliente Rico en JavaScript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Lógica principalmente en el cliente.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No PWA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Pero fácilmente convertible.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No Server-Side Rendering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Renderizado completamente en cliente.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Diseño Responsive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Adaptado a móviles y desktop.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Docker Compose: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tener los contenedores bien orquestados.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-1710840" y="9267917"/>
            <a:ext cx="5440505" cy="5440505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31048" y="-2211751"/>
            <a:ext cx="9879865" cy="8751524"/>
          </a:xfrm>
          <a:custGeom>
            <a:avLst/>
            <a:gdLst/>
            <a:ahLst/>
            <a:cxnLst/>
            <a:rect r="r" b="b" t="t" l="l"/>
            <a:pathLst>
              <a:path h="8751524" w="9879865">
                <a:moveTo>
                  <a:pt x="0" y="0"/>
                </a:moveTo>
                <a:lnTo>
                  <a:pt x="9879864" y="0"/>
                </a:lnTo>
                <a:lnTo>
                  <a:pt x="9879864" y="8751524"/>
                </a:lnTo>
                <a:lnTo>
                  <a:pt x="0" y="87515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773704" y="2931685"/>
            <a:ext cx="7830544" cy="523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99"/>
              </a:lnSpc>
            </a:pPr>
            <a:r>
              <a:rPr lang="en-US" b="true" sz="2999" spc="239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APRENDIDAS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013575" y="1502935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LECCIONES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4053216"/>
            <a:ext cx="15575549" cy="3639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26"/>
              </a:lnSpc>
            </a:pP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Las leccio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nes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prendidas en e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desarr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ll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 BookHub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in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cluy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n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efectiva de una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de microservicios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con Python y Node.js, la integración de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bases de datos relacionales y no relacionales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, y el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consumo de APIs externas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como Open Library. He implementado aspectos avanzados como un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con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documentación Swagger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automática,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autenticación JWT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segura y un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frontend React SPA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completamente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responsive.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Est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áctica merece una buena evaluación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porque cumple todos los requisitos técnicos solicitados y demuestra un dominio profesional de tecnologías actuales con una implementación completa y funcional.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31048" y="-2211751"/>
            <a:ext cx="9879865" cy="8751524"/>
          </a:xfrm>
          <a:custGeom>
            <a:avLst/>
            <a:gdLst/>
            <a:ahLst/>
            <a:cxnLst/>
            <a:rect r="r" b="b" t="t" l="l"/>
            <a:pathLst>
              <a:path h="8751524" w="9879865">
                <a:moveTo>
                  <a:pt x="0" y="0"/>
                </a:moveTo>
                <a:lnTo>
                  <a:pt x="9879864" y="0"/>
                </a:lnTo>
                <a:lnTo>
                  <a:pt x="9879864" y="8751524"/>
                </a:lnTo>
                <a:lnTo>
                  <a:pt x="0" y="87515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013575" y="1502935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CONCLUSIONES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835533" y="3901990"/>
            <a:ext cx="4214848" cy="644735"/>
            <a:chOff x="0" y="0"/>
            <a:chExt cx="921407" cy="1409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LOGROS ALCANZADOS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835533" y="4655434"/>
            <a:ext cx="4214848" cy="4935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 b="true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Exitosa: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m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icroservicios funcionando en armonía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b="true" sz="21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Integración Efectiva: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Python + Node.js + múltiples BBDD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b="true" sz="21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Experiencia de Usuario: 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SPA moderna, rápida y responsive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b="true" sz="21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Profesional: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RESTful, documentada, segura y escalable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2237619" y="3901990"/>
            <a:ext cx="4214848" cy="644735"/>
            <a:chOff x="0" y="0"/>
            <a:chExt cx="921407" cy="14094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MEJORAS FUTURAS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2237619" y="4655434"/>
            <a:ext cx="4214848" cy="4554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Sistema de recome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ndaciones basado en machine learning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Sincronización con más fuentes de datos bibliográficos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Conversión a PWA para funcionalidad offline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Despliegue en cloud con orquestación Kubernetes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037268" y="3901990"/>
            <a:ext cx="4214848" cy="644735"/>
            <a:chOff x="0" y="0"/>
            <a:chExt cx="921407" cy="1409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VALOR AÑADIDO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7037268" y="4736179"/>
            <a:ext cx="4214848" cy="3411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Ejemplo Práctico de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arquitectura de microservicios real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Base Escalable para añadir funcionalidades futuras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Demostración de consumo de APIs externas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9562" y="2256607"/>
            <a:ext cx="6630976" cy="3263964"/>
          </a:xfrm>
          <a:custGeom>
            <a:avLst/>
            <a:gdLst/>
            <a:ahLst/>
            <a:cxnLst/>
            <a:rect r="r" b="b" t="t" l="l"/>
            <a:pathLst>
              <a:path h="3263964" w="6630976">
                <a:moveTo>
                  <a:pt x="0" y="0"/>
                </a:moveTo>
                <a:lnTo>
                  <a:pt x="6630976" y="0"/>
                </a:lnTo>
                <a:lnTo>
                  <a:pt x="6630976" y="3263963"/>
                </a:lnTo>
                <a:lnTo>
                  <a:pt x="0" y="32639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651" r="0" b="-56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357139" y="2256607"/>
            <a:ext cx="6630976" cy="3206254"/>
          </a:xfrm>
          <a:custGeom>
            <a:avLst/>
            <a:gdLst/>
            <a:ahLst/>
            <a:cxnLst/>
            <a:rect r="r" b="b" t="t" l="l"/>
            <a:pathLst>
              <a:path h="3206254" w="6630976">
                <a:moveTo>
                  <a:pt x="0" y="0"/>
                </a:moveTo>
                <a:lnTo>
                  <a:pt x="6630976" y="0"/>
                </a:lnTo>
                <a:lnTo>
                  <a:pt x="6630976" y="3206254"/>
                </a:lnTo>
                <a:lnTo>
                  <a:pt x="0" y="3206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0280" r="0" b="-605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299091" y="6687424"/>
            <a:ext cx="6747072" cy="3235220"/>
          </a:xfrm>
          <a:custGeom>
            <a:avLst/>
            <a:gdLst/>
            <a:ahLst/>
            <a:cxnLst/>
            <a:rect r="r" b="b" t="t" l="l"/>
            <a:pathLst>
              <a:path h="3235220" w="6747072">
                <a:moveTo>
                  <a:pt x="0" y="0"/>
                </a:moveTo>
                <a:lnTo>
                  <a:pt x="6747072" y="0"/>
                </a:lnTo>
                <a:lnTo>
                  <a:pt x="6747072" y="3235220"/>
                </a:lnTo>
                <a:lnTo>
                  <a:pt x="0" y="32352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0669" r="0" b="-664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023" y="6687424"/>
            <a:ext cx="6626516" cy="3235220"/>
          </a:xfrm>
          <a:custGeom>
            <a:avLst/>
            <a:gdLst/>
            <a:ahLst/>
            <a:cxnLst/>
            <a:rect r="r" b="b" t="t" l="l"/>
            <a:pathLst>
              <a:path h="3235220" w="6626516">
                <a:moveTo>
                  <a:pt x="0" y="0"/>
                </a:moveTo>
                <a:lnTo>
                  <a:pt x="6626515" y="0"/>
                </a:lnTo>
                <a:lnTo>
                  <a:pt x="6626515" y="3235220"/>
                </a:lnTo>
                <a:lnTo>
                  <a:pt x="0" y="3235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8650" r="0" b="-6562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344188" y="566737"/>
            <a:ext cx="874378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163"/>
              </a:lnSpc>
              <a:spcBef>
                <a:spcPct val="0"/>
              </a:spcBef>
            </a:pPr>
            <a:r>
              <a:rPr lang="en-US" b="true" sz="5969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339108" y="1601220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Pantalla Principal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64733" y="1601220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Inicio de Sesión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64733" y="6148661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Registro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341338" y="6148661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Catálogo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85289" y="1441008"/>
            <a:ext cx="7316100" cy="3559791"/>
          </a:xfrm>
          <a:custGeom>
            <a:avLst/>
            <a:gdLst/>
            <a:ahLst/>
            <a:cxnLst/>
            <a:rect r="r" b="b" t="t" l="l"/>
            <a:pathLst>
              <a:path h="3559791" w="7316100">
                <a:moveTo>
                  <a:pt x="0" y="0"/>
                </a:moveTo>
                <a:lnTo>
                  <a:pt x="7316100" y="0"/>
                </a:lnTo>
                <a:lnTo>
                  <a:pt x="7316100" y="3559790"/>
                </a:lnTo>
                <a:lnTo>
                  <a:pt x="0" y="35597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061" r="0" b="-654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83074" y="1448627"/>
            <a:ext cx="7419636" cy="3619255"/>
          </a:xfrm>
          <a:custGeom>
            <a:avLst/>
            <a:gdLst/>
            <a:ahLst/>
            <a:cxnLst/>
            <a:rect r="r" b="b" t="t" l="l"/>
            <a:pathLst>
              <a:path h="3619255" w="7419636">
                <a:moveTo>
                  <a:pt x="0" y="0"/>
                </a:moveTo>
                <a:lnTo>
                  <a:pt x="7419637" y="0"/>
                </a:lnTo>
                <a:lnTo>
                  <a:pt x="7419637" y="3619255"/>
                </a:lnTo>
                <a:lnTo>
                  <a:pt x="0" y="3619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038" r="0" b="-627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670858" y="6031817"/>
            <a:ext cx="8005087" cy="3892809"/>
          </a:xfrm>
          <a:custGeom>
            <a:avLst/>
            <a:gdLst/>
            <a:ahLst/>
            <a:cxnLst/>
            <a:rect r="r" b="b" t="t" l="l"/>
            <a:pathLst>
              <a:path h="3892809" w="8005087">
                <a:moveTo>
                  <a:pt x="0" y="0"/>
                </a:moveTo>
                <a:lnTo>
                  <a:pt x="8005087" y="0"/>
                </a:lnTo>
                <a:lnTo>
                  <a:pt x="8005087" y="3892809"/>
                </a:lnTo>
                <a:lnTo>
                  <a:pt x="0" y="38928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8894" r="0" b="-677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048298" y="5901603"/>
            <a:ext cx="5159301" cy="4153237"/>
          </a:xfrm>
          <a:custGeom>
            <a:avLst/>
            <a:gdLst/>
            <a:ahLst/>
            <a:cxnLst/>
            <a:rect r="r" b="b" t="t" l="l"/>
            <a:pathLst>
              <a:path h="4153237" w="5159301">
                <a:moveTo>
                  <a:pt x="0" y="0"/>
                </a:moveTo>
                <a:lnTo>
                  <a:pt x="5159301" y="0"/>
                </a:lnTo>
                <a:lnTo>
                  <a:pt x="5159301" y="4153237"/>
                </a:lnTo>
                <a:lnTo>
                  <a:pt x="0" y="4153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671820" y="781877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Detalle Libro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701778" y="789496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Reseña de libro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07460" y="5424401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Perfil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668230" y="5242473"/>
            <a:ext cx="3919437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Editar perfil y reseñas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DAG1yl5Y4UY</dc:identifier>
  <dcterms:modified xsi:type="dcterms:W3CDTF">2011-08-01T06:04:30Z</dcterms:modified>
  <cp:revision>1</cp:revision>
  <dc:title>Book Hub DAAWD</dc:title>
</cp:coreProperties>
</file>