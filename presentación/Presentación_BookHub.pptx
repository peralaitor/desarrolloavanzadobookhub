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 Medium" charset="1" panose="00000600000000000000"/>
      <p:regular r:id="rId23"/>
    </p:embeddedFont>
    <p:embeddedFont>
      <p:font typeface="Montserrat Bold" charset="1" panose="00000800000000000000"/>
      <p:regular r:id="rId24"/>
    </p:embeddedFont>
    <p:embeddedFont>
      <p:font typeface="HK Grotesk Medium" charset="1" panose="00000600000000000000"/>
      <p:regular r:id="rId25"/>
    </p:embeddedFont>
    <p:embeddedFont>
      <p:font typeface="Montserrat" charset="1" panose="00000500000000000000"/>
      <p:regular r:id="rId26"/>
    </p:embeddedFont>
    <p:embeddedFont>
      <p:font typeface="Montserrat Semi-Bold" charset="1" panose="000007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" t="0" r="-1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6588" y="2981226"/>
            <a:ext cx="134473" cy="4612539"/>
            <a:chOff x="0" y="0"/>
            <a:chExt cx="32097" cy="11009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097" cy="1100948"/>
            </a:xfrm>
            <a:custGeom>
              <a:avLst/>
              <a:gdLst/>
              <a:ahLst/>
              <a:cxnLst/>
              <a:rect r="r" b="b" t="t" l="l"/>
              <a:pathLst>
                <a:path h="1100948" w="32097">
                  <a:moveTo>
                    <a:pt x="0" y="0"/>
                  </a:moveTo>
                  <a:lnTo>
                    <a:pt x="32097" y="0"/>
                  </a:lnTo>
                  <a:lnTo>
                    <a:pt x="32097" y="1100948"/>
                  </a:lnTo>
                  <a:lnTo>
                    <a:pt x="0" y="1100948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097" cy="1129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88926" y="6800759"/>
            <a:ext cx="12126055" cy="53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5"/>
              </a:lnSpc>
            </a:pPr>
            <a:r>
              <a:rPr lang="en-US" b="true" sz="3089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Desarrollo avanzado de aplicaciones para la web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8926" y="4533809"/>
            <a:ext cx="12503055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9"/>
              </a:lnSpc>
            </a:pPr>
            <a:r>
              <a:rPr lang="en-US" sz="15357" b="true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8926" y="2943339"/>
            <a:ext cx="1495506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0"/>
              </a:lnSpc>
            </a:pPr>
            <a:r>
              <a:rPr lang="en-US" b="true" sz="11833" spc="94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90906" y="6134546"/>
            <a:ext cx="9856051" cy="8730429"/>
          </a:xfrm>
          <a:custGeom>
            <a:avLst/>
            <a:gdLst/>
            <a:ahLst/>
            <a:cxnLst/>
            <a:rect r="r" b="b" t="t" l="l"/>
            <a:pathLst>
              <a:path h="8730429" w="9856051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219488" y="-4493967"/>
            <a:ext cx="8438976" cy="7475193"/>
          </a:xfrm>
          <a:custGeom>
            <a:avLst/>
            <a:gdLst/>
            <a:ahLst/>
            <a:cxnLst/>
            <a:rect r="r" b="b" t="t" l="l"/>
            <a:pathLst>
              <a:path h="7475193" w="8438976">
                <a:moveTo>
                  <a:pt x="0" y="0"/>
                </a:moveTo>
                <a:lnTo>
                  <a:pt x="8438976" y="0"/>
                </a:lnTo>
                <a:lnTo>
                  <a:pt x="8438976" y="7475193"/>
                </a:lnTo>
                <a:lnTo>
                  <a:pt x="0" y="7475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74673" y="8805251"/>
            <a:ext cx="5784752" cy="45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b="true" sz="2688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Aitor Peral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869231"/>
            <a:ext cx="18288000" cy="10254134"/>
          </a:xfrm>
          <a:custGeom>
            <a:avLst/>
            <a:gdLst/>
            <a:ahLst/>
            <a:cxnLst/>
            <a:rect r="r" b="b" t="t" l="l"/>
            <a:pathLst>
              <a:path h="10254134" w="18288000">
                <a:moveTo>
                  <a:pt x="0" y="0"/>
                </a:moveTo>
                <a:lnTo>
                  <a:pt x="18288000" y="0"/>
                </a:lnTo>
                <a:lnTo>
                  <a:pt x="18288000" y="10254134"/>
                </a:lnTo>
                <a:lnTo>
                  <a:pt x="0" y="10254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006878" y="1471010"/>
            <a:ext cx="827424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722" y="5691188"/>
            <a:ext cx="287744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292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Objetivo principal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17964" y="4252912"/>
            <a:ext cx="168296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1229" y="5623278"/>
            <a:ext cx="458554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  <a:spcBef>
                <a:spcPct val="0"/>
              </a:spcBef>
            </a:pPr>
            <a:r>
              <a:rPr lang="en-US" b="true" sz="2292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</a:t>
            </a:r>
            <a:r>
              <a:rPr lang="en-US" b="true" sz="2292" u="none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uncionalidades, APIs y modelo de datos.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99745" y="4185003"/>
            <a:ext cx="168296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9768" y="5623278"/>
            <a:ext cx="502367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b="true" sz="2292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Arquitectura de la solución y tecnologías seleccionadas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80127" y="4185003"/>
            <a:ext cx="168296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34856" y="8547834"/>
            <a:ext cx="365102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  <a:spcBef>
                <a:spcPct val="0"/>
              </a:spcBef>
            </a:pPr>
            <a:r>
              <a:rPr lang="en-US" b="true" sz="2292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Lecciones aprendidas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8890" y="7109559"/>
            <a:ext cx="168296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4439" y="8547834"/>
            <a:ext cx="47208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  <a:spcBef>
                <a:spcPct val="0"/>
              </a:spcBef>
            </a:pPr>
            <a:r>
              <a:rPr lang="en-US" b="true" sz="2292">
                <a:solidFill>
                  <a:srgbClr val="5CB6F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3397" y="7109559"/>
            <a:ext cx="168296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b="true" sz="9466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4513686" cy="10287000"/>
          </a:xfrm>
          <a:custGeom>
            <a:avLst/>
            <a:gdLst/>
            <a:ahLst/>
            <a:cxnLst/>
            <a:rect r="r" b="b" t="t" l="l"/>
            <a:pathLst>
              <a:path h="10287000" w="4513686">
                <a:moveTo>
                  <a:pt x="0" y="0"/>
                </a:moveTo>
                <a:lnTo>
                  <a:pt x="4513686" y="0"/>
                </a:lnTo>
                <a:lnTo>
                  <a:pt x="45136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958" t="0" r="-154507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611408" y="9646093"/>
            <a:ext cx="8321306" cy="1057828"/>
            <a:chOff x="0" y="0"/>
            <a:chExt cx="2191620" cy="2786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1620" cy="278605"/>
            </a:xfrm>
            <a:custGeom>
              <a:avLst/>
              <a:gdLst/>
              <a:ahLst/>
              <a:cxnLst/>
              <a:rect r="r" b="b" t="t" l="l"/>
              <a:pathLst>
                <a:path h="278605" w="2191620">
                  <a:moveTo>
                    <a:pt x="0" y="0"/>
                  </a:moveTo>
                  <a:lnTo>
                    <a:pt x="2191620" y="0"/>
                  </a:lnTo>
                  <a:lnTo>
                    <a:pt x="2191620" y="278605"/>
                  </a:lnTo>
                  <a:lnTo>
                    <a:pt x="0" y="278605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1620" cy="30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5CB6F9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81132" y="-528914"/>
            <a:ext cx="8321306" cy="1057828"/>
            <a:chOff x="0" y="0"/>
            <a:chExt cx="2191620" cy="278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1620" cy="278605"/>
            </a:xfrm>
            <a:custGeom>
              <a:avLst/>
              <a:gdLst/>
              <a:ahLst/>
              <a:cxnLst/>
              <a:rect r="r" b="b" t="t" l="l"/>
              <a:pathLst>
                <a:path h="278605" w="2191620">
                  <a:moveTo>
                    <a:pt x="0" y="0"/>
                  </a:moveTo>
                  <a:lnTo>
                    <a:pt x="2191620" y="0"/>
                  </a:lnTo>
                  <a:lnTo>
                    <a:pt x="2191620" y="278605"/>
                  </a:lnTo>
                  <a:lnTo>
                    <a:pt x="0" y="278605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1620" cy="307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5CB6F9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73236" y="2935945"/>
            <a:ext cx="949640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7"/>
              </a:lnSpc>
              <a:spcBef>
                <a:spcPct val="0"/>
              </a:spcBef>
            </a:pPr>
            <a:r>
              <a:rPr lang="en-US" b="true" sz="5872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PRINCIPAL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73236" y="3917528"/>
            <a:ext cx="11386064" cy="41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3"/>
              </a:lnSpc>
            </a:pP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esarrollar una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plataforma web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gestión bibliográfica 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que demuestre el dominio de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arquitecturas de microservicios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modernas, integrando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múltiples tecnologías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(Python, Node.js, MySQL, MongoDB) para ofrecer una 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experiencia completa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para usuarios finales, mediante la creación de un ecosistema de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libros y reseñas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, un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Gateway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como punto único de entrada, consumiendo datos de fuentes externas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(Open Library API)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y proporcionando interfaces tanto web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(Single Page Application)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como programática </a:t>
            </a:r>
            <a:r>
              <a:rPr lang="en-US" b="true" sz="2475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(APIs RESTful documentadas con OpenAPI 3.0)</a:t>
            </a:r>
            <a:r>
              <a:rPr lang="en-US" sz="2475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1048" y="-2211751"/>
            <a:ext cx="9879865" cy="8751524"/>
          </a:xfrm>
          <a:custGeom>
            <a:avLst/>
            <a:gdLst/>
            <a:ahLst/>
            <a:cxnLst/>
            <a:rect r="r" b="b" t="t" l="l"/>
            <a:pathLst>
              <a:path h="8751524" w="9879865">
                <a:moveTo>
                  <a:pt x="0" y="0"/>
                </a:moveTo>
                <a:lnTo>
                  <a:pt x="9879864" y="0"/>
                </a:lnTo>
                <a:lnTo>
                  <a:pt x="9879864" y="8751524"/>
                </a:lnTo>
                <a:lnTo>
                  <a:pt x="0" y="8751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9462" y="4736404"/>
            <a:ext cx="3498469" cy="535153"/>
            <a:chOff x="0" y="0"/>
            <a:chExt cx="921407" cy="140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CATALOGO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73704" y="2931685"/>
            <a:ext cx="7830544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99"/>
              </a:lnSpc>
            </a:pPr>
            <a:r>
              <a:rPr lang="en-US" b="true" sz="2999" spc="23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PRINCIPALES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3575" y="1502935"/>
            <a:ext cx="145906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53"/>
              </a:lnSpc>
              <a:spcBef>
                <a:spcPct val="0"/>
              </a:spcBef>
            </a:pPr>
            <a:r>
              <a:rPr lang="en-US" b="true" sz="996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9462" y="5355313"/>
            <a:ext cx="3498469" cy="170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catálogo inteligente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donde la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búsqueda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se puede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filtrar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por género, autor y año.</a:t>
            </a:r>
          </a:p>
          <a:p>
            <a:pPr algn="ctr">
              <a:lnSpc>
                <a:spcPts val="2756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658993" y="4736404"/>
            <a:ext cx="3498469" cy="535153"/>
            <a:chOff x="0" y="0"/>
            <a:chExt cx="921407" cy="1409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RESEÑAS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58993" y="5355313"/>
            <a:ext cx="3498469" cy="170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reseñas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donde los usuarios pueden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valorar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libros (1-5 estrellas) y escribir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comentarios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2756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60831" y="5143500"/>
            <a:ext cx="10229002" cy="9060787"/>
          </a:xfrm>
          <a:custGeom>
            <a:avLst/>
            <a:gdLst/>
            <a:ahLst/>
            <a:cxnLst/>
            <a:rect r="r" b="b" t="t" l="l"/>
            <a:pathLst>
              <a:path h="9060787" w="10229002">
                <a:moveTo>
                  <a:pt x="0" y="0"/>
                </a:moveTo>
                <a:lnTo>
                  <a:pt x="10229002" y="0"/>
                </a:lnTo>
                <a:lnTo>
                  <a:pt x="10229002" y="9060787"/>
                </a:lnTo>
                <a:lnTo>
                  <a:pt x="0" y="9060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60831" y="4736404"/>
            <a:ext cx="3498469" cy="535153"/>
            <a:chOff x="0" y="0"/>
            <a:chExt cx="921407" cy="1409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LOGIN Y REGISTRO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760831" y="5355313"/>
            <a:ext cx="3498469" cy="170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Una pestaña con un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formulario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donde los usuarios pueden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registrarse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iniciar sesión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2756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9709912" y="4736404"/>
            <a:ext cx="3498469" cy="535153"/>
            <a:chOff x="0" y="0"/>
            <a:chExt cx="921407" cy="1409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IMPORTACIÓN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09912" y="5355313"/>
            <a:ext cx="3498469" cy="135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Una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importación automática 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de datos con </a:t>
            </a:r>
            <a:r>
              <a:rPr lang="en-US" b="true" sz="1968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 Library API</a:t>
            </a:r>
            <a:r>
              <a:rPr lang="en-US" sz="1968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para datos bibliográficos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714" y="1160758"/>
            <a:ext cx="12821705" cy="2997074"/>
          </a:xfrm>
          <a:custGeom>
            <a:avLst/>
            <a:gdLst/>
            <a:ahLst/>
            <a:cxnLst/>
            <a:rect r="r" b="b" t="t" l="l"/>
            <a:pathLst>
              <a:path h="2997074" w="12821705">
                <a:moveTo>
                  <a:pt x="0" y="0"/>
                </a:moveTo>
                <a:lnTo>
                  <a:pt x="12821705" y="0"/>
                </a:lnTo>
                <a:lnTo>
                  <a:pt x="12821705" y="2997073"/>
                </a:lnTo>
                <a:lnTo>
                  <a:pt x="0" y="2997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714" y="4157831"/>
            <a:ext cx="12821705" cy="4968411"/>
          </a:xfrm>
          <a:custGeom>
            <a:avLst/>
            <a:gdLst/>
            <a:ahLst/>
            <a:cxnLst/>
            <a:rect r="r" b="b" t="t" l="l"/>
            <a:pathLst>
              <a:path h="4968411" w="12821705">
                <a:moveTo>
                  <a:pt x="0" y="0"/>
                </a:moveTo>
                <a:lnTo>
                  <a:pt x="12821705" y="0"/>
                </a:lnTo>
                <a:lnTo>
                  <a:pt x="12821705" y="4968411"/>
                </a:lnTo>
                <a:lnTo>
                  <a:pt x="0" y="4968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4617" y="4395787"/>
            <a:ext cx="145906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53"/>
              </a:lnSpc>
              <a:spcBef>
                <a:spcPct val="0"/>
              </a:spcBef>
            </a:pPr>
            <a:r>
              <a:rPr lang="en-US" b="true" sz="996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1048" y="-2211751"/>
            <a:ext cx="9879865" cy="8751524"/>
          </a:xfrm>
          <a:custGeom>
            <a:avLst/>
            <a:gdLst/>
            <a:ahLst/>
            <a:cxnLst/>
            <a:rect r="r" b="b" t="t" l="l"/>
            <a:pathLst>
              <a:path h="8751524" w="9879865">
                <a:moveTo>
                  <a:pt x="0" y="0"/>
                </a:moveTo>
                <a:lnTo>
                  <a:pt x="9879864" y="0"/>
                </a:lnTo>
                <a:lnTo>
                  <a:pt x="9879864" y="8751524"/>
                </a:lnTo>
                <a:lnTo>
                  <a:pt x="0" y="8751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13575" y="1502935"/>
            <a:ext cx="145906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53"/>
              </a:lnSpc>
              <a:spcBef>
                <a:spcPct val="0"/>
              </a:spcBef>
            </a:pPr>
            <a:r>
              <a:rPr lang="en-US" b="true" sz="996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35533" y="3901990"/>
            <a:ext cx="4214848" cy="644735"/>
            <a:chOff x="0" y="0"/>
            <a:chExt cx="921407" cy="140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5533" y="4636384"/>
            <a:ext cx="4214848" cy="247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</a:t>
            </a: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estructurados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lib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(r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lacion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l)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libros: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id, titulo, autor, isbn,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ñ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género, editorial, descrip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ci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37619" y="3901990"/>
            <a:ext cx="4214848" cy="644735"/>
            <a:chOff x="0" y="0"/>
            <a:chExt cx="921407" cy="140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800" spc="144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INTEGRACIÓN EXTERNA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237619" y="4636384"/>
            <a:ext cx="4214848" cy="454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</a:t>
            </a: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 Library API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para la </a:t>
            </a: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alimentación automática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del catálogo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 libros iniciales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cargados automáticamente al despl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egar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Búsqueda en tiempo real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du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ante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con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ultas d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u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uar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37268" y="3901990"/>
            <a:ext cx="4214848" cy="644735"/>
            <a:chOff x="0" y="0"/>
            <a:chExt cx="921407" cy="140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MONGODB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37268" y="4636384"/>
            <a:ext cx="4214848" cy="454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atos semi-estructurados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(n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relacional)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users: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d, nom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br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e,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email, password(hash), role, fechaRegistro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b="true" sz="23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reviews:</a:t>
            </a:r>
            <a:r>
              <a:rPr lang="en-US" sz="23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_id, libro_id, usuario_id, calificación, comentario, fecha, likes</a:t>
            </a:r>
          </a:p>
          <a:p>
            <a:pPr algn="l">
              <a:lnSpc>
                <a:spcPts val="33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13500" y="7462685"/>
            <a:ext cx="6376911" cy="5648629"/>
          </a:xfrm>
          <a:custGeom>
            <a:avLst/>
            <a:gdLst/>
            <a:ahLst/>
            <a:cxnLst/>
            <a:rect r="r" b="b" t="t" l="l"/>
            <a:pathLst>
              <a:path h="5648629" w="6376911">
                <a:moveTo>
                  <a:pt x="6376911" y="0"/>
                </a:moveTo>
                <a:lnTo>
                  <a:pt x="0" y="0"/>
                </a:lnTo>
                <a:lnTo>
                  <a:pt x="0" y="5648630"/>
                </a:lnTo>
                <a:lnTo>
                  <a:pt x="6376911" y="5648630"/>
                </a:lnTo>
                <a:lnTo>
                  <a:pt x="63769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283223" y="-3248789"/>
            <a:ext cx="8411905" cy="7451214"/>
          </a:xfrm>
          <a:custGeom>
            <a:avLst/>
            <a:gdLst/>
            <a:ahLst/>
            <a:cxnLst/>
            <a:rect r="r" b="b" t="t" l="l"/>
            <a:pathLst>
              <a:path h="7451214" w="8411905">
                <a:moveTo>
                  <a:pt x="8411904" y="0"/>
                </a:moveTo>
                <a:lnTo>
                  <a:pt x="0" y="0"/>
                </a:lnTo>
                <a:lnTo>
                  <a:pt x="0" y="7451213"/>
                </a:lnTo>
                <a:lnTo>
                  <a:pt x="8411904" y="7451213"/>
                </a:lnTo>
                <a:lnTo>
                  <a:pt x="84119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9649" y="5556485"/>
            <a:ext cx="1932243" cy="1259465"/>
            <a:chOff x="0" y="0"/>
            <a:chExt cx="508904" cy="331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904" cy="331711"/>
            </a:xfrm>
            <a:custGeom>
              <a:avLst/>
              <a:gdLst/>
              <a:ahLst/>
              <a:cxnLst/>
              <a:rect r="r" b="b" t="t" l="l"/>
              <a:pathLst>
                <a:path h="331711" w="508904">
                  <a:moveTo>
                    <a:pt x="80134" y="0"/>
                  </a:moveTo>
                  <a:lnTo>
                    <a:pt x="428770" y="0"/>
                  </a:lnTo>
                  <a:cubicBezTo>
                    <a:pt x="473026" y="0"/>
                    <a:pt x="508904" y="35877"/>
                    <a:pt x="508904" y="80134"/>
                  </a:cubicBezTo>
                  <a:lnTo>
                    <a:pt x="508904" y="251577"/>
                  </a:lnTo>
                  <a:cubicBezTo>
                    <a:pt x="508904" y="295834"/>
                    <a:pt x="473026" y="331711"/>
                    <a:pt x="428770" y="331711"/>
                  </a:cubicBezTo>
                  <a:lnTo>
                    <a:pt x="80134" y="331711"/>
                  </a:lnTo>
                  <a:cubicBezTo>
                    <a:pt x="35877" y="331711"/>
                    <a:pt x="0" y="295834"/>
                    <a:pt x="0" y="251577"/>
                  </a:cubicBezTo>
                  <a:lnTo>
                    <a:pt x="0" y="80134"/>
                  </a:lnTo>
                  <a:cubicBezTo>
                    <a:pt x="0" y="35877"/>
                    <a:pt x="35877" y="0"/>
                    <a:pt x="80134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08904" cy="37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03996" y="1242853"/>
            <a:ext cx="10584565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36"/>
              </a:lnSpc>
              <a:spcBef>
                <a:spcPct val="0"/>
              </a:spcBef>
            </a:pPr>
            <a:r>
              <a:rPr lang="en-US" b="true" sz="7947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DE LA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1381" y="5856652"/>
            <a:ext cx="174878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(React)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33472" y="5556485"/>
            <a:ext cx="1932243" cy="1259465"/>
            <a:chOff x="0" y="0"/>
            <a:chExt cx="508904" cy="3317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904" cy="331711"/>
            </a:xfrm>
            <a:custGeom>
              <a:avLst/>
              <a:gdLst/>
              <a:ahLst/>
              <a:cxnLst/>
              <a:rect r="r" b="b" t="t" l="l"/>
              <a:pathLst>
                <a:path h="331711" w="508904">
                  <a:moveTo>
                    <a:pt x="80134" y="0"/>
                  </a:moveTo>
                  <a:lnTo>
                    <a:pt x="428770" y="0"/>
                  </a:lnTo>
                  <a:cubicBezTo>
                    <a:pt x="473026" y="0"/>
                    <a:pt x="508904" y="35877"/>
                    <a:pt x="508904" y="80134"/>
                  </a:cubicBezTo>
                  <a:lnTo>
                    <a:pt x="508904" y="251577"/>
                  </a:lnTo>
                  <a:cubicBezTo>
                    <a:pt x="508904" y="295834"/>
                    <a:pt x="473026" y="331711"/>
                    <a:pt x="428770" y="331711"/>
                  </a:cubicBezTo>
                  <a:lnTo>
                    <a:pt x="80134" y="331711"/>
                  </a:lnTo>
                  <a:cubicBezTo>
                    <a:pt x="35877" y="331711"/>
                    <a:pt x="0" y="295834"/>
                    <a:pt x="0" y="251577"/>
                  </a:cubicBezTo>
                  <a:lnTo>
                    <a:pt x="0" y="80134"/>
                  </a:lnTo>
                  <a:cubicBezTo>
                    <a:pt x="0" y="35877"/>
                    <a:pt x="35877" y="0"/>
                    <a:pt x="80134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08904" cy="37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25204" y="5856652"/>
            <a:ext cx="174878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Gateway (Node.js)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27296" y="3463125"/>
            <a:ext cx="2161266" cy="1408745"/>
            <a:chOff x="0" y="0"/>
            <a:chExt cx="569222" cy="3710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9222" cy="371028"/>
            </a:xfrm>
            <a:custGeom>
              <a:avLst/>
              <a:gdLst/>
              <a:ahLst/>
              <a:cxnLst/>
              <a:rect r="r" b="b" t="t" l="l"/>
              <a:pathLst>
                <a:path h="371028" w="569222">
                  <a:moveTo>
                    <a:pt x="71642" y="0"/>
                  </a:moveTo>
                  <a:lnTo>
                    <a:pt x="497580" y="0"/>
                  </a:lnTo>
                  <a:cubicBezTo>
                    <a:pt x="537147" y="0"/>
                    <a:pt x="569222" y="32075"/>
                    <a:pt x="569222" y="71642"/>
                  </a:cubicBezTo>
                  <a:lnTo>
                    <a:pt x="569222" y="299385"/>
                  </a:lnTo>
                  <a:cubicBezTo>
                    <a:pt x="569222" y="338952"/>
                    <a:pt x="537147" y="371028"/>
                    <a:pt x="497580" y="371028"/>
                  </a:cubicBezTo>
                  <a:lnTo>
                    <a:pt x="71642" y="371028"/>
                  </a:lnTo>
                  <a:cubicBezTo>
                    <a:pt x="32075" y="371028"/>
                    <a:pt x="0" y="338952"/>
                    <a:pt x="0" y="299385"/>
                  </a:cubicBezTo>
                  <a:lnTo>
                    <a:pt x="0" y="71642"/>
                  </a:lnTo>
                  <a:cubicBezTo>
                    <a:pt x="0" y="32075"/>
                    <a:pt x="32075" y="0"/>
                    <a:pt x="7164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69222" cy="418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72706" y="3680770"/>
            <a:ext cx="187044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A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Libros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(Python)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27296" y="5481844"/>
            <a:ext cx="2161266" cy="1408745"/>
            <a:chOff x="0" y="0"/>
            <a:chExt cx="569222" cy="3710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222" cy="371028"/>
            </a:xfrm>
            <a:custGeom>
              <a:avLst/>
              <a:gdLst/>
              <a:ahLst/>
              <a:cxnLst/>
              <a:rect r="r" b="b" t="t" l="l"/>
              <a:pathLst>
                <a:path h="371028" w="569222">
                  <a:moveTo>
                    <a:pt x="71642" y="0"/>
                  </a:moveTo>
                  <a:lnTo>
                    <a:pt x="497580" y="0"/>
                  </a:lnTo>
                  <a:cubicBezTo>
                    <a:pt x="537147" y="0"/>
                    <a:pt x="569222" y="32075"/>
                    <a:pt x="569222" y="71642"/>
                  </a:cubicBezTo>
                  <a:lnTo>
                    <a:pt x="569222" y="299385"/>
                  </a:lnTo>
                  <a:cubicBezTo>
                    <a:pt x="569222" y="338952"/>
                    <a:pt x="537147" y="371028"/>
                    <a:pt x="497580" y="371028"/>
                  </a:cubicBezTo>
                  <a:lnTo>
                    <a:pt x="71642" y="371028"/>
                  </a:lnTo>
                  <a:cubicBezTo>
                    <a:pt x="32075" y="371028"/>
                    <a:pt x="0" y="338952"/>
                    <a:pt x="0" y="299385"/>
                  </a:cubicBezTo>
                  <a:lnTo>
                    <a:pt x="0" y="71642"/>
                  </a:lnTo>
                  <a:cubicBezTo>
                    <a:pt x="0" y="32075"/>
                    <a:pt x="32075" y="0"/>
                    <a:pt x="7164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69222" cy="418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72706" y="5699489"/>
            <a:ext cx="187044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B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Reseñas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(Node.js)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983215" y="3537765"/>
            <a:ext cx="1932243" cy="1259465"/>
            <a:chOff x="0" y="0"/>
            <a:chExt cx="508904" cy="3317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904" cy="331711"/>
            </a:xfrm>
            <a:custGeom>
              <a:avLst/>
              <a:gdLst/>
              <a:ahLst/>
              <a:cxnLst/>
              <a:rect r="r" b="b" t="t" l="l"/>
              <a:pathLst>
                <a:path h="331711" w="508904">
                  <a:moveTo>
                    <a:pt x="80134" y="0"/>
                  </a:moveTo>
                  <a:lnTo>
                    <a:pt x="428770" y="0"/>
                  </a:lnTo>
                  <a:cubicBezTo>
                    <a:pt x="473026" y="0"/>
                    <a:pt x="508904" y="35877"/>
                    <a:pt x="508904" y="80134"/>
                  </a:cubicBezTo>
                  <a:lnTo>
                    <a:pt x="508904" y="251577"/>
                  </a:lnTo>
                  <a:cubicBezTo>
                    <a:pt x="508904" y="295834"/>
                    <a:pt x="473026" y="331711"/>
                    <a:pt x="428770" y="331711"/>
                  </a:cubicBezTo>
                  <a:lnTo>
                    <a:pt x="80134" y="331711"/>
                  </a:lnTo>
                  <a:cubicBezTo>
                    <a:pt x="35877" y="331711"/>
                    <a:pt x="0" y="295834"/>
                    <a:pt x="0" y="251577"/>
                  </a:cubicBezTo>
                  <a:lnTo>
                    <a:pt x="0" y="80134"/>
                  </a:lnTo>
                  <a:cubicBezTo>
                    <a:pt x="0" y="35877"/>
                    <a:pt x="35877" y="0"/>
                    <a:pt x="80134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08904" cy="37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074946" y="3995095"/>
            <a:ext cx="174878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MySQL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983215" y="5556485"/>
            <a:ext cx="1932243" cy="1259465"/>
            <a:chOff x="0" y="0"/>
            <a:chExt cx="508904" cy="3317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904" cy="331711"/>
            </a:xfrm>
            <a:custGeom>
              <a:avLst/>
              <a:gdLst/>
              <a:ahLst/>
              <a:cxnLst/>
              <a:rect r="r" b="b" t="t" l="l"/>
              <a:pathLst>
                <a:path h="331711" w="508904">
                  <a:moveTo>
                    <a:pt x="80134" y="0"/>
                  </a:moveTo>
                  <a:lnTo>
                    <a:pt x="428770" y="0"/>
                  </a:lnTo>
                  <a:cubicBezTo>
                    <a:pt x="473026" y="0"/>
                    <a:pt x="508904" y="35877"/>
                    <a:pt x="508904" y="80134"/>
                  </a:cubicBezTo>
                  <a:lnTo>
                    <a:pt x="508904" y="251577"/>
                  </a:lnTo>
                  <a:cubicBezTo>
                    <a:pt x="508904" y="295834"/>
                    <a:pt x="473026" y="331711"/>
                    <a:pt x="428770" y="331711"/>
                  </a:cubicBezTo>
                  <a:lnTo>
                    <a:pt x="80134" y="331711"/>
                  </a:lnTo>
                  <a:cubicBezTo>
                    <a:pt x="35877" y="331711"/>
                    <a:pt x="0" y="295834"/>
                    <a:pt x="0" y="251577"/>
                  </a:cubicBezTo>
                  <a:lnTo>
                    <a:pt x="0" y="80134"/>
                  </a:lnTo>
                  <a:cubicBezTo>
                    <a:pt x="0" y="35877"/>
                    <a:pt x="35877" y="0"/>
                    <a:pt x="80134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08904" cy="37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074946" y="6013814"/>
            <a:ext cx="174878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MongoDB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3580161" y="6186217"/>
            <a:ext cx="2153312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7665716" y="6186217"/>
            <a:ext cx="820263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8485979" y="4167498"/>
            <a:ext cx="0" cy="4037064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8485979" y="4167498"/>
            <a:ext cx="1241317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V="true">
            <a:off x="8485979" y="6186217"/>
            <a:ext cx="1241317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V="true">
            <a:off x="11888561" y="4167498"/>
            <a:ext cx="2094653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11888561" y="6186217"/>
            <a:ext cx="2094653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6" id="36"/>
          <p:cNvGrpSpPr/>
          <p:nvPr/>
        </p:nvGrpSpPr>
        <p:grpSpPr>
          <a:xfrm rot="0">
            <a:off x="9727296" y="7500190"/>
            <a:ext cx="2161266" cy="1408745"/>
            <a:chOff x="0" y="0"/>
            <a:chExt cx="569222" cy="3710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9222" cy="371028"/>
            </a:xfrm>
            <a:custGeom>
              <a:avLst/>
              <a:gdLst/>
              <a:ahLst/>
              <a:cxnLst/>
              <a:rect r="r" b="b" t="t" l="l"/>
              <a:pathLst>
                <a:path h="371028" w="569222">
                  <a:moveTo>
                    <a:pt x="71642" y="0"/>
                  </a:moveTo>
                  <a:lnTo>
                    <a:pt x="497580" y="0"/>
                  </a:lnTo>
                  <a:cubicBezTo>
                    <a:pt x="537147" y="0"/>
                    <a:pt x="569222" y="32075"/>
                    <a:pt x="569222" y="71642"/>
                  </a:cubicBezTo>
                  <a:lnTo>
                    <a:pt x="569222" y="299385"/>
                  </a:lnTo>
                  <a:cubicBezTo>
                    <a:pt x="569222" y="338952"/>
                    <a:pt x="537147" y="371028"/>
                    <a:pt x="497580" y="371028"/>
                  </a:cubicBezTo>
                  <a:lnTo>
                    <a:pt x="71642" y="371028"/>
                  </a:lnTo>
                  <a:cubicBezTo>
                    <a:pt x="32075" y="371028"/>
                    <a:pt x="0" y="338952"/>
                    <a:pt x="0" y="299385"/>
                  </a:cubicBezTo>
                  <a:lnTo>
                    <a:pt x="0" y="71642"/>
                  </a:lnTo>
                  <a:cubicBezTo>
                    <a:pt x="0" y="32075"/>
                    <a:pt x="32075" y="0"/>
                    <a:pt x="71642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69222" cy="418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872706" y="7717835"/>
            <a:ext cx="187044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C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(Node.js)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983215" y="7574830"/>
            <a:ext cx="1932243" cy="1259465"/>
            <a:chOff x="0" y="0"/>
            <a:chExt cx="508904" cy="3317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904" cy="331711"/>
            </a:xfrm>
            <a:custGeom>
              <a:avLst/>
              <a:gdLst/>
              <a:ahLst/>
              <a:cxnLst/>
              <a:rect r="r" b="b" t="t" l="l"/>
              <a:pathLst>
                <a:path h="331711" w="508904">
                  <a:moveTo>
                    <a:pt x="80134" y="0"/>
                  </a:moveTo>
                  <a:lnTo>
                    <a:pt x="428770" y="0"/>
                  </a:lnTo>
                  <a:cubicBezTo>
                    <a:pt x="473026" y="0"/>
                    <a:pt x="508904" y="35877"/>
                    <a:pt x="508904" y="80134"/>
                  </a:cubicBezTo>
                  <a:lnTo>
                    <a:pt x="508904" y="251577"/>
                  </a:lnTo>
                  <a:cubicBezTo>
                    <a:pt x="508904" y="295834"/>
                    <a:pt x="473026" y="331711"/>
                    <a:pt x="428770" y="331711"/>
                  </a:cubicBezTo>
                  <a:lnTo>
                    <a:pt x="80134" y="331711"/>
                  </a:lnTo>
                  <a:cubicBezTo>
                    <a:pt x="35877" y="331711"/>
                    <a:pt x="0" y="295834"/>
                    <a:pt x="0" y="251577"/>
                  </a:cubicBezTo>
                  <a:lnTo>
                    <a:pt x="0" y="80134"/>
                  </a:lnTo>
                  <a:cubicBezTo>
                    <a:pt x="0" y="35877"/>
                    <a:pt x="35877" y="0"/>
                    <a:pt x="80134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08904" cy="379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074946" y="8032160"/>
            <a:ext cx="174878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50A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MongoDB</a:t>
            </a:r>
          </a:p>
        </p:txBody>
      </p:sp>
      <p:sp>
        <p:nvSpPr>
          <p:cNvPr name="AutoShape 44" id="44"/>
          <p:cNvSpPr/>
          <p:nvPr/>
        </p:nvSpPr>
        <p:spPr>
          <a:xfrm flipV="true">
            <a:off x="8485979" y="8204562"/>
            <a:ext cx="1241317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11888561" y="8204562"/>
            <a:ext cx="2094653" cy="0"/>
          </a:xfrm>
          <a:prstGeom prst="line">
            <a:avLst/>
          </a:prstGeom>
          <a:ln cap="flat" w="38100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05" r="0" b="-93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0A30">
                <a:alpha val="5686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85878" y="3011805"/>
            <a:ext cx="13780624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16"/>
              </a:lnSpc>
              <a:spcBef>
                <a:spcPct val="0"/>
              </a:spcBef>
            </a:pPr>
            <a:r>
              <a:rPr lang="en-US" b="true" sz="1393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 A UTILIZAR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18195" y="6207257"/>
            <a:ext cx="9856051" cy="8730429"/>
          </a:xfrm>
          <a:custGeom>
            <a:avLst/>
            <a:gdLst/>
            <a:ahLst/>
            <a:cxnLst/>
            <a:rect r="r" b="b" t="t" l="l"/>
            <a:pathLst>
              <a:path h="8730429" w="9856051">
                <a:moveTo>
                  <a:pt x="0" y="0"/>
                </a:moveTo>
                <a:lnTo>
                  <a:pt x="9856050" y="0"/>
                </a:lnTo>
                <a:lnTo>
                  <a:pt x="9856050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928025" y="-3336515"/>
            <a:ext cx="9856051" cy="8730429"/>
          </a:xfrm>
          <a:custGeom>
            <a:avLst/>
            <a:gdLst/>
            <a:ahLst/>
            <a:cxnLst/>
            <a:rect r="r" b="b" t="t" l="l"/>
            <a:pathLst>
              <a:path h="8730429" w="9856051">
                <a:moveTo>
                  <a:pt x="0" y="0"/>
                </a:moveTo>
                <a:lnTo>
                  <a:pt x="9856050" y="0"/>
                </a:lnTo>
                <a:lnTo>
                  <a:pt x="9856050" y="8730430"/>
                </a:lnTo>
                <a:lnTo>
                  <a:pt x="0" y="8730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91708" y="-5884500"/>
            <a:ext cx="12413176" cy="10995516"/>
          </a:xfrm>
          <a:custGeom>
            <a:avLst/>
            <a:gdLst/>
            <a:ahLst/>
            <a:cxnLst/>
            <a:rect r="r" b="b" t="t" l="l"/>
            <a:pathLst>
              <a:path h="10995516" w="12413176">
                <a:moveTo>
                  <a:pt x="0" y="0"/>
                </a:moveTo>
                <a:lnTo>
                  <a:pt x="12413176" y="0"/>
                </a:lnTo>
                <a:lnTo>
                  <a:pt x="12413176" y="10995515"/>
                </a:lnTo>
                <a:lnTo>
                  <a:pt x="0" y="1099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458" y="462616"/>
            <a:ext cx="6639963" cy="9296798"/>
          </a:xfrm>
          <a:custGeom>
            <a:avLst/>
            <a:gdLst/>
            <a:ahLst/>
            <a:cxnLst/>
            <a:rect r="r" b="b" t="t" l="l"/>
            <a:pathLst>
              <a:path h="9296798" w="6639963">
                <a:moveTo>
                  <a:pt x="0" y="0"/>
                </a:moveTo>
                <a:lnTo>
                  <a:pt x="6639963" y="0"/>
                </a:lnTo>
                <a:lnTo>
                  <a:pt x="6639963" y="9296799"/>
                </a:lnTo>
                <a:lnTo>
                  <a:pt x="0" y="9296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027" t="0" r="-1588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71927" y="1368438"/>
            <a:ext cx="7831775" cy="1601953"/>
            <a:chOff x="0" y="0"/>
            <a:chExt cx="2062690" cy="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2690" cy="421913"/>
            </a:xfrm>
            <a:custGeom>
              <a:avLst/>
              <a:gdLst/>
              <a:ahLst/>
              <a:cxnLst/>
              <a:rect r="r" b="b" t="t" l="l"/>
              <a:pathLst>
                <a:path h="421913" w="2062690">
                  <a:moveTo>
                    <a:pt x="19771" y="0"/>
                  </a:moveTo>
                  <a:lnTo>
                    <a:pt x="2042919" y="0"/>
                  </a:lnTo>
                  <a:cubicBezTo>
                    <a:pt x="2048163" y="0"/>
                    <a:pt x="2053192" y="2083"/>
                    <a:pt x="2056899" y="5791"/>
                  </a:cubicBezTo>
                  <a:cubicBezTo>
                    <a:pt x="2060607" y="9498"/>
                    <a:pt x="2062690" y="14527"/>
                    <a:pt x="2062690" y="19771"/>
                  </a:cubicBezTo>
                  <a:lnTo>
                    <a:pt x="2062690" y="402143"/>
                  </a:lnTo>
                  <a:cubicBezTo>
                    <a:pt x="2062690" y="413062"/>
                    <a:pt x="2053838" y="421913"/>
                    <a:pt x="2042919" y="421913"/>
                  </a:cubicBezTo>
                  <a:lnTo>
                    <a:pt x="19771" y="421913"/>
                  </a:lnTo>
                  <a:cubicBezTo>
                    <a:pt x="14527" y="421913"/>
                    <a:pt x="9498" y="419830"/>
                    <a:pt x="5791" y="416123"/>
                  </a:cubicBezTo>
                  <a:cubicBezTo>
                    <a:pt x="2083" y="412415"/>
                    <a:pt x="0" y="407386"/>
                    <a:pt x="0" y="402143"/>
                  </a:cubicBezTo>
                  <a:lnTo>
                    <a:pt x="0" y="19771"/>
                  </a:lnTo>
                  <a:cubicBezTo>
                    <a:pt x="0" y="8852"/>
                    <a:pt x="8852" y="0"/>
                    <a:pt x="19771" y="0"/>
                  </a:cubicBezTo>
                  <a:close/>
                </a:path>
              </a:pathLst>
            </a:custGeom>
            <a:solidFill>
              <a:srgbClr val="24304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062690" cy="5076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8160"/>
                </a:lnSpc>
              </a:pPr>
              <a:r>
                <a:rPr lang="en-US" b="true" sz="6000">
                  <a:solidFill>
                    <a:srgbClr val="5CB6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MICROSERVICIOS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303396" y="7887998"/>
            <a:ext cx="2646746" cy="1488795"/>
          </a:xfrm>
          <a:custGeom>
            <a:avLst/>
            <a:gdLst/>
            <a:ahLst/>
            <a:cxnLst/>
            <a:rect r="r" b="b" t="t" l="l"/>
            <a:pathLst>
              <a:path h="1488795" w="2646746">
                <a:moveTo>
                  <a:pt x="0" y="0"/>
                </a:moveTo>
                <a:lnTo>
                  <a:pt x="2646746" y="0"/>
                </a:lnTo>
                <a:lnTo>
                  <a:pt x="2646746" y="1488794"/>
                </a:lnTo>
                <a:lnTo>
                  <a:pt x="0" y="1488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36641" y="6679436"/>
            <a:ext cx="1961105" cy="1961105"/>
          </a:xfrm>
          <a:custGeom>
            <a:avLst/>
            <a:gdLst/>
            <a:ahLst/>
            <a:cxnLst/>
            <a:rect r="r" b="b" t="t" l="l"/>
            <a:pathLst>
              <a:path h="1961105" w="1961105">
                <a:moveTo>
                  <a:pt x="0" y="0"/>
                </a:moveTo>
                <a:lnTo>
                  <a:pt x="1961105" y="0"/>
                </a:lnTo>
                <a:lnTo>
                  <a:pt x="1961105" y="1961105"/>
                </a:lnTo>
                <a:lnTo>
                  <a:pt x="0" y="196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78721" y="8632395"/>
            <a:ext cx="2812813" cy="515353"/>
          </a:xfrm>
          <a:custGeom>
            <a:avLst/>
            <a:gdLst/>
            <a:ahLst/>
            <a:cxnLst/>
            <a:rect r="r" b="b" t="t" l="l"/>
            <a:pathLst>
              <a:path h="515353" w="2812813">
                <a:moveTo>
                  <a:pt x="0" y="0"/>
                </a:moveTo>
                <a:lnTo>
                  <a:pt x="2812813" y="0"/>
                </a:lnTo>
                <a:lnTo>
                  <a:pt x="2812813" y="515353"/>
                </a:lnTo>
                <a:lnTo>
                  <a:pt x="0" y="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97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91708" y="6964818"/>
            <a:ext cx="1390340" cy="1390340"/>
          </a:xfrm>
          <a:custGeom>
            <a:avLst/>
            <a:gdLst/>
            <a:ahLst/>
            <a:cxnLst/>
            <a:rect r="r" b="b" t="t" l="l"/>
            <a:pathLst>
              <a:path h="1390340" w="1390340">
                <a:moveTo>
                  <a:pt x="0" y="0"/>
                </a:moveTo>
                <a:lnTo>
                  <a:pt x="1390340" y="0"/>
                </a:lnTo>
                <a:lnTo>
                  <a:pt x="1390340" y="1390340"/>
                </a:lnTo>
                <a:lnTo>
                  <a:pt x="0" y="13903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69304" y="3233319"/>
            <a:ext cx="9466534" cy="385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Gateway: 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Node.js + Express.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Libros: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Python + FastAPI.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Reseñas: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Node.js + Express.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Microservicio Auth: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Node.js + Express + JWT.</a:t>
            </a:r>
          </a:p>
          <a:p>
            <a:pPr algn="just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91708" y="-5884500"/>
            <a:ext cx="12413176" cy="10995516"/>
          </a:xfrm>
          <a:custGeom>
            <a:avLst/>
            <a:gdLst/>
            <a:ahLst/>
            <a:cxnLst/>
            <a:rect r="r" b="b" t="t" l="l"/>
            <a:pathLst>
              <a:path h="10995516" w="12413176">
                <a:moveTo>
                  <a:pt x="0" y="0"/>
                </a:moveTo>
                <a:lnTo>
                  <a:pt x="12413176" y="0"/>
                </a:lnTo>
                <a:lnTo>
                  <a:pt x="12413176" y="10995515"/>
                </a:lnTo>
                <a:lnTo>
                  <a:pt x="0" y="1099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458" y="407185"/>
            <a:ext cx="6635590" cy="9352229"/>
          </a:xfrm>
          <a:custGeom>
            <a:avLst/>
            <a:gdLst/>
            <a:ahLst/>
            <a:cxnLst/>
            <a:rect r="r" b="b" t="t" l="l"/>
            <a:pathLst>
              <a:path h="9352229" w="6635590">
                <a:moveTo>
                  <a:pt x="0" y="0"/>
                </a:moveTo>
                <a:lnTo>
                  <a:pt x="6635590" y="0"/>
                </a:lnTo>
                <a:lnTo>
                  <a:pt x="6635590" y="9352230"/>
                </a:lnTo>
                <a:lnTo>
                  <a:pt x="0" y="935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6634" t="0" r="-150413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71927" y="1368438"/>
            <a:ext cx="7831775" cy="1601953"/>
            <a:chOff x="0" y="0"/>
            <a:chExt cx="2062690" cy="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2690" cy="421913"/>
            </a:xfrm>
            <a:custGeom>
              <a:avLst/>
              <a:gdLst/>
              <a:ahLst/>
              <a:cxnLst/>
              <a:rect r="r" b="b" t="t" l="l"/>
              <a:pathLst>
                <a:path h="421913" w="2062690">
                  <a:moveTo>
                    <a:pt x="19771" y="0"/>
                  </a:moveTo>
                  <a:lnTo>
                    <a:pt x="2042919" y="0"/>
                  </a:lnTo>
                  <a:cubicBezTo>
                    <a:pt x="2048163" y="0"/>
                    <a:pt x="2053192" y="2083"/>
                    <a:pt x="2056899" y="5791"/>
                  </a:cubicBezTo>
                  <a:cubicBezTo>
                    <a:pt x="2060607" y="9498"/>
                    <a:pt x="2062690" y="14527"/>
                    <a:pt x="2062690" y="19771"/>
                  </a:cubicBezTo>
                  <a:lnTo>
                    <a:pt x="2062690" y="402143"/>
                  </a:lnTo>
                  <a:cubicBezTo>
                    <a:pt x="2062690" y="413062"/>
                    <a:pt x="2053838" y="421913"/>
                    <a:pt x="2042919" y="421913"/>
                  </a:cubicBezTo>
                  <a:lnTo>
                    <a:pt x="19771" y="421913"/>
                  </a:lnTo>
                  <a:cubicBezTo>
                    <a:pt x="14527" y="421913"/>
                    <a:pt x="9498" y="419830"/>
                    <a:pt x="5791" y="416123"/>
                  </a:cubicBezTo>
                  <a:cubicBezTo>
                    <a:pt x="2083" y="412415"/>
                    <a:pt x="0" y="407386"/>
                    <a:pt x="0" y="402143"/>
                  </a:cubicBezTo>
                  <a:lnTo>
                    <a:pt x="0" y="19771"/>
                  </a:lnTo>
                  <a:cubicBezTo>
                    <a:pt x="0" y="8852"/>
                    <a:pt x="8852" y="0"/>
                    <a:pt x="19771" y="0"/>
                  </a:cubicBezTo>
                  <a:close/>
                </a:path>
              </a:pathLst>
            </a:custGeom>
            <a:solidFill>
              <a:srgbClr val="24304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062690" cy="5076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8160"/>
                </a:lnSpc>
                <a:spcBef>
                  <a:spcPct val="0"/>
                </a:spcBef>
              </a:pPr>
              <a:r>
                <a:rPr lang="en-US" b="true" sz="6000" strike="noStrike" u="none">
                  <a:solidFill>
                    <a:srgbClr val="5CB6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BASE DE DATOS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229017" y="6708945"/>
            <a:ext cx="3396199" cy="2549355"/>
          </a:xfrm>
          <a:custGeom>
            <a:avLst/>
            <a:gdLst/>
            <a:ahLst/>
            <a:cxnLst/>
            <a:rect r="r" b="b" t="t" l="l"/>
            <a:pathLst>
              <a:path h="2549355" w="3396199">
                <a:moveTo>
                  <a:pt x="0" y="0"/>
                </a:moveTo>
                <a:lnTo>
                  <a:pt x="3396199" y="0"/>
                </a:lnTo>
                <a:lnTo>
                  <a:pt x="3396199" y="2549355"/>
                </a:lnTo>
                <a:lnTo>
                  <a:pt x="0" y="2549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42972" y="6605129"/>
            <a:ext cx="2653171" cy="2653171"/>
          </a:xfrm>
          <a:custGeom>
            <a:avLst/>
            <a:gdLst/>
            <a:ahLst/>
            <a:cxnLst/>
            <a:rect r="r" b="b" t="t" l="l"/>
            <a:pathLst>
              <a:path h="2653171" w="2653171">
                <a:moveTo>
                  <a:pt x="0" y="0"/>
                </a:moveTo>
                <a:lnTo>
                  <a:pt x="2653172" y="0"/>
                </a:lnTo>
                <a:lnTo>
                  <a:pt x="2653172" y="2653171"/>
                </a:lnTo>
                <a:lnTo>
                  <a:pt x="0" y="2653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69304" y="3613403"/>
            <a:ext cx="6966774" cy="239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MySQL: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Datos estru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cturados de libros (relacional)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MongoDB: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Datos de usua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rios y reseñas (no relacional)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91708" y="-5884500"/>
            <a:ext cx="12413176" cy="10995516"/>
          </a:xfrm>
          <a:custGeom>
            <a:avLst/>
            <a:gdLst/>
            <a:ahLst/>
            <a:cxnLst/>
            <a:rect r="r" b="b" t="t" l="l"/>
            <a:pathLst>
              <a:path h="10995516" w="12413176">
                <a:moveTo>
                  <a:pt x="0" y="0"/>
                </a:moveTo>
                <a:lnTo>
                  <a:pt x="12413176" y="0"/>
                </a:lnTo>
                <a:lnTo>
                  <a:pt x="12413176" y="10995515"/>
                </a:lnTo>
                <a:lnTo>
                  <a:pt x="0" y="1099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2458" y="462616"/>
            <a:ext cx="6635590" cy="9296798"/>
          </a:xfrm>
          <a:custGeom>
            <a:avLst/>
            <a:gdLst/>
            <a:ahLst/>
            <a:cxnLst/>
            <a:rect r="r" b="b" t="t" l="l"/>
            <a:pathLst>
              <a:path h="9296798" w="6635590">
                <a:moveTo>
                  <a:pt x="0" y="0"/>
                </a:moveTo>
                <a:lnTo>
                  <a:pt x="6635590" y="0"/>
                </a:lnTo>
                <a:lnTo>
                  <a:pt x="6635590" y="9296799"/>
                </a:lnTo>
                <a:lnTo>
                  <a:pt x="0" y="9296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61" t="0" r="-13881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71927" y="1368438"/>
            <a:ext cx="7831775" cy="1601953"/>
            <a:chOff x="0" y="0"/>
            <a:chExt cx="2062690" cy="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2690" cy="421913"/>
            </a:xfrm>
            <a:custGeom>
              <a:avLst/>
              <a:gdLst/>
              <a:ahLst/>
              <a:cxnLst/>
              <a:rect r="r" b="b" t="t" l="l"/>
              <a:pathLst>
                <a:path h="421913" w="2062690">
                  <a:moveTo>
                    <a:pt x="19771" y="0"/>
                  </a:moveTo>
                  <a:lnTo>
                    <a:pt x="2042919" y="0"/>
                  </a:lnTo>
                  <a:cubicBezTo>
                    <a:pt x="2048163" y="0"/>
                    <a:pt x="2053192" y="2083"/>
                    <a:pt x="2056899" y="5791"/>
                  </a:cubicBezTo>
                  <a:cubicBezTo>
                    <a:pt x="2060607" y="9498"/>
                    <a:pt x="2062690" y="14527"/>
                    <a:pt x="2062690" y="19771"/>
                  </a:cubicBezTo>
                  <a:lnTo>
                    <a:pt x="2062690" y="402143"/>
                  </a:lnTo>
                  <a:cubicBezTo>
                    <a:pt x="2062690" y="413062"/>
                    <a:pt x="2053838" y="421913"/>
                    <a:pt x="2042919" y="421913"/>
                  </a:cubicBezTo>
                  <a:lnTo>
                    <a:pt x="19771" y="421913"/>
                  </a:lnTo>
                  <a:cubicBezTo>
                    <a:pt x="14527" y="421913"/>
                    <a:pt x="9498" y="419830"/>
                    <a:pt x="5791" y="416123"/>
                  </a:cubicBezTo>
                  <a:cubicBezTo>
                    <a:pt x="2083" y="412415"/>
                    <a:pt x="0" y="407386"/>
                    <a:pt x="0" y="402143"/>
                  </a:cubicBezTo>
                  <a:lnTo>
                    <a:pt x="0" y="19771"/>
                  </a:lnTo>
                  <a:cubicBezTo>
                    <a:pt x="0" y="8852"/>
                    <a:pt x="8852" y="0"/>
                    <a:pt x="19771" y="0"/>
                  </a:cubicBezTo>
                  <a:close/>
                </a:path>
              </a:pathLst>
            </a:custGeom>
            <a:solidFill>
              <a:srgbClr val="24304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062690" cy="5076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8160"/>
                </a:lnSpc>
                <a:spcBef>
                  <a:spcPct val="0"/>
                </a:spcBef>
              </a:pPr>
              <a:r>
                <a:rPr lang="en-US" b="true" sz="6000" strike="noStrike" u="none">
                  <a:solidFill>
                    <a:srgbClr val="5CB6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FRONTEND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291121" y="5996919"/>
            <a:ext cx="3074361" cy="3058455"/>
          </a:xfrm>
          <a:custGeom>
            <a:avLst/>
            <a:gdLst/>
            <a:ahLst/>
            <a:cxnLst/>
            <a:rect r="r" b="b" t="t" l="l"/>
            <a:pathLst>
              <a:path h="3058455" w="3074361">
                <a:moveTo>
                  <a:pt x="0" y="0"/>
                </a:moveTo>
                <a:lnTo>
                  <a:pt x="3074361" y="0"/>
                </a:lnTo>
                <a:lnTo>
                  <a:pt x="3074361" y="3058456"/>
                </a:lnTo>
                <a:lnTo>
                  <a:pt x="0" y="305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654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74475" y="5996919"/>
            <a:ext cx="3058455" cy="3058455"/>
          </a:xfrm>
          <a:custGeom>
            <a:avLst/>
            <a:gdLst/>
            <a:ahLst/>
            <a:cxnLst/>
            <a:rect r="r" b="b" t="t" l="l"/>
            <a:pathLst>
              <a:path h="3058455" w="3058455">
                <a:moveTo>
                  <a:pt x="0" y="0"/>
                </a:moveTo>
                <a:lnTo>
                  <a:pt x="3058455" y="0"/>
                </a:lnTo>
                <a:lnTo>
                  <a:pt x="3058455" y="3058456"/>
                </a:lnTo>
                <a:lnTo>
                  <a:pt x="0" y="3058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69304" y="3603878"/>
            <a:ext cx="6966774" cy="153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4159"/>
              </a:lnSpc>
              <a:buFont typeface="Arial"/>
              <a:buChar char="•"/>
            </a:pPr>
            <a:r>
              <a:rPr lang="en-US" b="true" sz="25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React:</a:t>
            </a:r>
            <a:r>
              <a:rPr lang="en-US" sz="25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Single Page Application (SPA)</a:t>
            </a:r>
          </a:p>
          <a:p>
            <a:pPr algn="just">
              <a:lnSpc>
                <a:spcPts val="4159"/>
              </a:lnSpc>
            </a:pPr>
          </a:p>
          <a:p>
            <a:pPr algn="just" marL="561337" indent="-280669" lvl="1">
              <a:lnSpc>
                <a:spcPts val="4159"/>
              </a:lnSpc>
              <a:buFont typeface="Arial"/>
              <a:buChar char="•"/>
            </a:pPr>
            <a:r>
              <a:rPr lang="en-US" b="true" sz="25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Tailwind CSS:</a:t>
            </a:r>
            <a:r>
              <a:rPr lang="en-US" sz="25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Framework de est</a:t>
            </a:r>
            <a:r>
              <a:rPr lang="en-US" sz="25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ilos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458" y="462616"/>
            <a:ext cx="6635590" cy="9296798"/>
          </a:xfrm>
          <a:custGeom>
            <a:avLst/>
            <a:gdLst/>
            <a:ahLst/>
            <a:cxnLst/>
            <a:rect r="r" b="b" t="t" l="l"/>
            <a:pathLst>
              <a:path h="9296798" w="6635590">
                <a:moveTo>
                  <a:pt x="0" y="0"/>
                </a:moveTo>
                <a:lnTo>
                  <a:pt x="6635590" y="0"/>
                </a:lnTo>
                <a:lnTo>
                  <a:pt x="6635590" y="9296799"/>
                </a:lnTo>
                <a:lnTo>
                  <a:pt x="0" y="9296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794" t="0" r="-544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29867" y="7280412"/>
            <a:ext cx="2134184" cy="1790047"/>
          </a:xfrm>
          <a:custGeom>
            <a:avLst/>
            <a:gdLst/>
            <a:ahLst/>
            <a:cxnLst/>
            <a:rect r="r" b="b" t="t" l="l"/>
            <a:pathLst>
              <a:path h="1790047" w="2134184">
                <a:moveTo>
                  <a:pt x="0" y="0"/>
                </a:moveTo>
                <a:lnTo>
                  <a:pt x="2134184" y="0"/>
                </a:lnTo>
                <a:lnTo>
                  <a:pt x="2134184" y="1790047"/>
                </a:lnTo>
                <a:lnTo>
                  <a:pt x="0" y="1790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71927" y="1368438"/>
            <a:ext cx="8670637" cy="1601953"/>
            <a:chOff x="0" y="0"/>
            <a:chExt cx="2283624" cy="421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3624" cy="421913"/>
            </a:xfrm>
            <a:custGeom>
              <a:avLst/>
              <a:gdLst/>
              <a:ahLst/>
              <a:cxnLst/>
              <a:rect r="r" b="b" t="t" l="l"/>
              <a:pathLst>
                <a:path h="421913" w="2283624">
                  <a:moveTo>
                    <a:pt x="17858" y="0"/>
                  </a:moveTo>
                  <a:lnTo>
                    <a:pt x="2265767" y="0"/>
                  </a:lnTo>
                  <a:cubicBezTo>
                    <a:pt x="2275629" y="0"/>
                    <a:pt x="2283624" y="7995"/>
                    <a:pt x="2283624" y="17858"/>
                  </a:cubicBezTo>
                  <a:lnTo>
                    <a:pt x="2283624" y="404056"/>
                  </a:lnTo>
                  <a:cubicBezTo>
                    <a:pt x="2283624" y="408792"/>
                    <a:pt x="2281743" y="413334"/>
                    <a:pt x="2278394" y="416683"/>
                  </a:cubicBezTo>
                  <a:cubicBezTo>
                    <a:pt x="2275045" y="420032"/>
                    <a:pt x="2270503" y="421913"/>
                    <a:pt x="2265767" y="421913"/>
                  </a:cubicBezTo>
                  <a:lnTo>
                    <a:pt x="17858" y="421913"/>
                  </a:lnTo>
                  <a:cubicBezTo>
                    <a:pt x="13122" y="421913"/>
                    <a:pt x="8579" y="420032"/>
                    <a:pt x="5230" y="416683"/>
                  </a:cubicBezTo>
                  <a:cubicBezTo>
                    <a:pt x="1881" y="413334"/>
                    <a:pt x="0" y="408792"/>
                    <a:pt x="0" y="404056"/>
                  </a:cubicBezTo>
                  <a:lnTo>
                    <a:pt x="0" y="17858"/>
                  </a:lnTo>
                  <a:cubicBezTo>
                    <a:pt x="0" y="13122"/>
                    <a:pt x="1881" y="8579"/>
                    <a:pt x="5230" y="5230"/>
                  </a:cubicBezTo>
                  <a:cubicBezTo>
                    <a:pt x="8579" y="1881"/>
                    <a:pt x="13122" y="0"/>
                    <a:pt x="17858" y="0"/>
                  </a:cubicBezTo>
                  <a:close/>
                </a:path>
              </a:pathLst>
            </a:custGeom>
            <a:solidFill>
              <a:srgbClr val="24304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83624" cy="50763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 marL="0" indent="0" lvl="0">
                <a:lnSpc>
                  <a:spcPts val="8160"/>
                </a:lnSpc>
                <a:spcBef>
                  <a:spcPct val="0"/>
                </a:spcBef>
              </a:pPr>
              <a:r>
                <a:rPr lang="en-US" b="true" sz="6000" strike="noStrike" u="none">
                  <a:solidFill>
                    <a:srgbClr val="5CB6F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INFRAESTRUCTURA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078451" y="7280412"/>
            <a:ext cx="1577479" cy="1790047"/>
          </a:xfrm>
          <a:custGeom>
            <a:avLst/>
            <a:gdLst/>
            <a:ahLst/>
            <a:cxnLst/>
            <a:rect r="r" b="b" t="t" l="l"/>
            <a:pathLst>
              <a:path h="1790047" w="1577479">
                <a:moveTo>
                  <a:pt x="0" y="0"/>
                </a:moveTo>
                <a:lnTo>
                  <a:pt x="1577479" y="0"/>
                </a:lnTo>
                <a:lnTo>
                  <a:pt x="1577479" y="1790047"/>
                </a:lnTo>
                <a:lnTo>
                  <a:pt x="0" y="179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27453" y="7280412"/>
            <a:ext cx="3931847" cy="1695645"/>
          </a:xfrm>
          <a:custGeom>
            <a:avLst/>
            <a:gdLst/>
            <a:ahLst/>
            <a:cxnLst/>
            <a:rect r="r" b="b" t="t" l="l"/>
            <a:pathLst>
              <a:path h="1695645" w="3931847">
                <a:moveTo>
                  <a:pt x="0" y="0"/>
                </a:moveTo>
                <a:lnTo>
                  <a:pt x="3931847" y="0"/>
                </a:lnTo>
                <a:lnTo>
                  <a:pt x="3931847" y="1695644"/>
                </a:lnTo>
                <a:lnTo>
                  <a:pt x="0" y="1695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69304" y="3613403"/>
            <a:ext cx="10095110" cy="336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&amp; Docker Compose: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Containerización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OpenAPI 3.0/ Swagger: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Documentación de APIs</a:t>
            </a:r>
          </a:p>
          <a:p>
            <a:pPr algn="just">
              <a:lnSpc>
                <a:spcPts val="3839"/>
              </a:lnSpc>
            </a:pPr>
          </a:p>
          <a:p>
            <a:pPr algn="just" marL="518158" indent="-259079" lvl="1">
              <a:lnSpc>
                <a:spcPts val="3839"/>
              </a:lnSpc>
              <a:buFont typeface="Arial"/>
              <a:buChar char="•"/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Nginx: </a:t>
            </a:r>
            <a:r>
              <a:rPr lang="en-US" sz="23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Reverse Proxy en Docker (Director de tráfico entre contenedores)</a:t>
            </a:r>
          </a:p>
          <a:p>
            <a:pPr algn="just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26160" y="1551424"/>
            <a:ext cx="5440505" cy="54405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21980" y="3128204"/>
            <a:ext cx="5440505" cy="544050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B6F9">
                <a:alpha val="5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768687" y="-1502203"/>
            <a:ext cx="5440505" cy="54405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37617" y="-3006405"/>
            <a:ext cx="5440505" cy="54405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B6F9">
                <a:alpha val="5098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2434099"/>
            <a:ext cx="11982907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800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CARACTERISTICAS DE LA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412" y="4976526"/>
            <a:ext cx="12002195" cy="430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SPA (Single Page Application)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: Navegación fluida sin recargas.</a:t>
            </a:r>
          </a:p>
          <a:p>
            <a:pPr algn="just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b="true" sz="240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Gateway:</a:t>
            </a:r>
            <a:r>
              <a:rPr lang="en-US" sz="240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Para tener un punto único de entrada a los microservicios.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Cliente Rico en JavaScript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: Lógica principalmente en el cliente.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 PWA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: Pero fácilmente convertible.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No Server-Side Rendering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: Renderizado completamente en cliente.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Diseño Responsive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: Adaptado a móviles y desktop.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b="true" sz="24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Compose:</a:t>
            </a:r>
            <a:r>
              <a:rPr lang="en-US" sz="2499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Para tener los contenedores bien orquestados.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710840" y="9267917"/>
            <a:ext cx="5440505" cy="544050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1048" y="-2211751"/>
            <a:ext cx="9879865" cy="8751524"/>
          </a:xfrm>
          <a:custGeom>
            <a:avLst/>
            <a:gdLst/>
            <a:ahLst/>
            <a:cxnLst/>
            <a:rect r="r" b="b" t="t" l="l"/>
            <a:pathLst>
              <a:path h="8751524" w="9879865">
                <a:moveTo>
                  <a:pt x="0" y="0"/>
                </a:moveTo>
                <a:lnTo>
                  <a:pt x="9879864" y="0"/>
                </a:lnTo>
                <a:lnTo>
                  <a:pt x="9879864" y="8751524"/>
                </a:lnTo>
                <a:lnTo>
                  <a:pt x="0" y="8751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3704" y="2931685"/>
            <a:ext cx="7830544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99"/>
              </a:lnSpc>
            </a:pPr>
            <a:r>
              <a:rPr lang="en-US" b="true" sz="2999" spc="23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APRENDIDAS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13575" y="1502935"/>
            <a:ext cx="145906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53"/>
              </a:lnSpc>
              <a:spcBef>
                <a:spcPct val="0"/>
              </a:spcBef>
            </a:pPr>
            <a:r>
              <a:rPr lang="en-US" b="true" sz="996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LECCIONES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53216"/>
            <a:ext cx="15575549" cy="363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6"/>
              </a:lnSpc>
            </a:pP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Las leccio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nes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prendidas en e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desarr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ll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de BookHub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cluy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efectiva de una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de microservicios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con Python y Node.js, la integración de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bases de datos relacionales y no relacionales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, y el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consumo de APIs externas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como Open Library. He implementado aspectos avanzados como un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Gateway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con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documentación Swagger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automática,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autenticación JWT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segura y un 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React SPA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completamente</a:t>
            </a:r>
            <a:r>
              <a:rPr lang="en-US" b="true" sz="2590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responsive.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Est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áctica merece una buena evaluación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90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porque cumple todos los requisitos técnicos solicitados y demuestra un dominio profesional de tecnologías actuales con una implementación completa y funcional.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562" y="2256607"/>
            <a:ext cx="6630976" cy="3263964"/>
          </a:xfrm>
          <a:custGeom>
            <a:avLst/>
            <a:gdLst/>
            <a:ahLst/>
            <a:cxnLst/>
            <a:rect r="r" b="b" t="t" l="l"/>
            <a:pathLst>
              <a:path h="3263964" w="6630976">
                <a:moveTo>
                  <a:pt x="0" y="0"/>
                </a:moveTo>
                <a:lnTo>
                  <a:pt x="6630976" y="0"/>
                </a:lnTo>
                <a:lnTo>
                  <a:pt x="6630976" y="3263963"/>
                </a:lnTo>
                <a:lnTo>
                  <a:pt x="0" y="3263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51" r="0" b="-5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7139" y="2256607"/>
            <a:ext cx="6630976" cy="3206254"/>
          </a:xfrm>
          <a:custGeom>
            <a:avLst/>
            <a:gdLst/>
            <a:ahLst/>
            <a:cxnLst/>
            <a:rect r="r" b="b" t="t" l="l"/>
            <a:pathLst>
              <a:path h="3206254" w="6630976">
                <a:moveTo>
                  <a:pt x="0" y="0"/>
                </a:moveTo>
                <a:lnTo>
                  <a:pt x="6630976" y="0"/>
                </a:lnTo>
                <a:lnTo>
                  <a:pt x="6630976" y="3206254"/>
                </a:lnTo>
                <a:lnTo>
                  <a:pt x="0" y="320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80" r="0" b="-605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99091" y="6687424"/>
            <a:ext cx="6747072" cy="3235220"/>
          </a:xfrm>
          <a:custGeom>
            <a:avLst/>
            <a:gdLst/>
            <a:ahLst/>
            <a:cxnLst/>
            <a:rect r="r" b="b" t="t" l="l"/>
            <a:pathLst>
              <a:path h="3235220" w="6747072">
                <a:moveTo>
                  <a:pt x="0" y="0"/>
                </a:moveTo>
                <a:lnTo>
                  <a:pt x="6747072" y="0"/>
                </a:lnTo>
                <a:lnTo>
                  <a:pt x="6747072" y="3235220"/>
                </a:lnTo>
                <a:lnTo>
                  <a:pt x="0" y="3235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69" r="0" b="-66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4023" y="6687424"/>
            <a:ext cx="6626516" cy="3235220"/>
          </a:xfrm>
          <a:custGeom>
            <a:avLst/>
            <a:gdLst/>
            <a:ahLst/>
            <a:cxnLst/>
            <a:rect r="r" b="b" t="t" l="l"/>
            <a:pathLst>
              <a:path h="3235220" w="6626516">
                <a:moveTo>
                  <a:pt x="0" y="0"/>
                </a:moveTo>
                <a:lnTo>
                  <a:pt x="6626515" y="0"/>
                </a:lnTo>
                <a:lnTo>
                  <a:pt x="6626515" y="3235220"/>
                </a:lnTo>
                <a:lnTo>
                  <a:pt x="0" y="3235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50" r="0" b="-656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4188" y="566737"/>
            <a:ext cx="874378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63"/>
              </a:lnSpc>
              <a:spcBef>
                <a:spcPct val="0"/>
              </a:spcBef>
            </a:pPr>
            <a:r>
              <a:rPr lang="en-US" b="true" sz="5969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39108" y="1601220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Pantalla Principal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64733" y="1601220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Inicio de Sesión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64733" y="6148661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1338" y="6148661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Catálogo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5289" y="1441008"/>
            <a:ext cx="7316100" cy="3559791"/>
          </a:xfrm>
          <a:custGeom>
            <a:avLst/>
            <a:gdLst/>
            <a:ahLst/>
            <a:cxnLst/>
            <a:rect r="r" b="b" t="t" l="l"/>
            <a:pathLst>
              <a:path h="3559791" w="7316100">
                <a:moveTo>
                  <a:pt x="0" y="0"/>
                </a:moveTo>
                <a:lnTo>
                  <a:pt x="7316100" y="0"/>
                </a:lnTo>
                <a:lnTo>
                  <a:pt x="7316100" y="3559790"/>
                </a:lnTo>
                <a:lnTo>
                  <a:pt x="0" y="355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61" r="0" b="-65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3074" y="1448627"/>
            <a:ext cx="7419636" cy="3619255"/>
          </a:xfrm>
          <a:custGeom>
            <a:avLst/>
            <a:gdLst/>
            <a:ahLst/>
            <a:cxnLst/>
            <a:rect r="r" b="b" t="t" l="l"/>
            <a:pathLst>
              <a:path h="3619255" w="7419636">
                <a:moveTo>
                  <a:pt x="0" y="0"/>
                </a:moveTo>
                <a:lnTo>
                  <a:pt x="7419637" y="0"/>
                </a:lnTo>
                <a:lnTo>
                  <a:pt x="7419637" y="3619255"/>
                </a:lnTo>
                <a:lnTo>
                  <a:pt x="0" y="3619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38" r="0" b="-62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83074" y="6316517"/>
            <a:ext cx="7419636" cy="3608109"/>
          </a:xfrm>
          <a:custGeom>
            <a:avLst/>
            <a:gdLst/>
            <a:ahLst/>
            <a:cxnLst/>
            <a:rect r="r" b="b" t="t" l="l"/>
            <a:pathLst>
              <a:path h="3608109" w="7419636">
                <a:moveTo>
                  <a:pt x="0" y="0"/>
                </a:moveTo>
                <a:lnTo>
                  <a:pt x="7419637" y="0"/>
                </a:lnTo>
                <a:lnTo>
                  <a:pt x="7419637" y="3608109"/>
                </a:lnTo>
                <a:lnTo>
                  <a:pt x="0" y="3608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894" r="0" b="-677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63689" y="5901603"/>
            <a:ext cx="5159301" cy="4153237"/>
          </a:xfrm>
          <a:custGeom>
            <a:avLst/>
            <a:gdLst/>
            <a:ahLst/>
            <a:cxnLst/>
            <a:rect r="r" b="b" t="t" l="l"/>
            <a:pathLst>
              <a:path h="4153237" w="5159301">
                <a:moveTo>
                  <a:pt x="0" y="0"/>
                </a:moveTo>
                <a:lnTo>
                  <a:pt x="5159301" y="0"/>
                </a:lnTo>
                <a:lnTo>
                  <a:pt x="5159301" y="4153237"/>
                </a:lnTo>
                <a:lnTo>
                  <a:pt x="0" y="4153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71820" y="781877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Detalle Libro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01778" y="789496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Reseña de libro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1778" y="5633951"/>
            <a:ext cx="293188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8230" y="5242473"/>
            <a:ext cx="391943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b="true" sz="2399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Editar perfil y reseñas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31048" y="-2211751"/>
            <a:ext cx="9879865" cy="8751524"/>
          </a:xfrm>
          <a:custGeom>
            <a:avLst/>
            <a:gdLst/>
            <a:ahLst/>
            <a:cxnLst/>
            <a:rect r="r" b="b" t="t" l="l"/>
            <a:pathLst>
              <a:path h="8751524" w="9879865">
                <a:moveTo>
                  <a:pt x="0" y="0"/>
                </a:moveTo>
                <a:lnTo>
                  <a:pt x="9879864" y="0"/>
                </a:lnTo>
                <a:lnTo>
                  <a:pt x="9879864" y="8751524"/>
                </a:lnTo>
                <a:lnTo>
                  <a:pt x="0" y="8751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13575" y="1502935"/>
            <a:ext cx="1459067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53"/>
              </a:lnSpc>
              <a:spcBef>
                <a:spcPct val="0"/>
              </a:spcBef>
            </a:pPr>
            <a:r>
              <a:rPr lang="en-US" b="true" sz="9960">
                <a:solidFill>
                  <a:srgbClr val="38B6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35533" y="3901990"/>
            <a:ext cx="4214848" cy="644735"/>
            <a:chOff x="0" y="0"/>
            <a:chExt cx="921407" cy="140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LOGROS ALCANZADOS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5533" y="4655434"/>
            <a:ext cx="4214848" cy="493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 b="true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Exitosa: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m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icroservicios funcionando en armonía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b="true" sz="21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Integración Efectiva: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Python + Node.js + múltiples BBDD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b="true" sz="21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Experiencia de Usuario: 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SPA moderna, rápida y responsive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b="true" sz="2171">
                <a:solidFill>
                  <a:srgbClr val="5CB6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Profesional: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RESTful, documentada, segura y escalable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37619" y="3901990"/>
            <a:ext cx="4214848" cy="644735"/>
            <a:chOff x="0" y="0"/>
            <a:chExt cx="921407" cy="140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MEJORAS FUTURAS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237619" y="4655434"/>
            <a:ext cx="4214848" cy="455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Sistema de recome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ndaciones basado en machine learning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Sincronización con más fuentes de datos bibliográficos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Conversión a PWA para funcionalidad offline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Despliegue en cloud con orquestación Kubernetes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37268" y="3901990"/>
            <a:ext cx="4214848" cy="644735"/>
            <a:chOff x="0" y="0"/>
            <a:chExt cx="921407" cy="140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408" cy="140946"/>
            </a:xfrm>
            <a:custGeom>
              <a:avLst/>
              <a:gdLst/>
              <a:ahLst/>
              <a:cxnLst/>
              <a:rect r="r" b="b" t="t" l="l"/>
              <a:pathLst>
                <a:path h="140946" w="921408">
                  <a:moveTo>
                    <a:pt x="0" y="0"/>
                  </a:moveTo>
                  <a:lnTo>
                    <a:pt x="921408" y="0"/>
                  </a:lnTo>
                  <a:lnTo>
                    <a:pt x="921408" y="140946"/>
                  </a:lnTo>
                  <a:lnTo>
                    <a:pt x="0" y="140946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21407" cy="1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b="true" sz="2100" spc="168">
                  <a:solidFill>
                    <a:srgbClr val="050A3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VALOR AÑADIDO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037268" y="4736179"/>
            <a:ext cx="4214848" cy="341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Ejemplo Práctico de</a:t>
            </a: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 arquitectura de microservicios real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Base Escalable para añadir funcionalidades futuras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5CB6F9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de consumo de APIs externas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DAG1yl5Y4UY</dc:identifier>
  <dcterms:modified xsi:type="dcterms:W3CDTF">2011-08-01T06:04:30Z</dcterms:modified>
  <cp:revision>1</cp:revision>
  <dc:title>Book Hub DAAWD</dc:title>
</cp:coreProperties>
</file>